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2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7.xml.rels" ContentType="application/vnd.openxmlformats-package.relationships+xml"/>
  <Override PartName="/ppt/slideMasters/slideMaster14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3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theme/theme17.xml" ContentType="application/vnd.openxmlformats-officedocument.theme+xml"/>
  <Override PartName="/ppt/theme/theme16.xml" ContentType="application/vnd.openxmlformats-officedocument.theme+xml"/>
  <Override PartName="/ppt/theme/theme15.xml" ContentType="application/vnd.openxmlformats-officedocument.theme+xml"/>
  <Override PartName="/ppt/theme/theme14.xml" ContentType="application/vnd.openxmlformats-officedocument.theme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_rels/presentation.xml.rels" ContentType="application/vnd.openxmlformats-package.relationships+xml"/>
  <Override PartName="/ppt/media/image59.wmf" ContentType="image/x-wmf"/>
  <Override PartName="/ppt/media/image57.wmf" ContentType="image/x-wmf"/>
  <Override PartName="/ppt/media/image56.wmf" ContentType="image/x-wmf"/>
  <Override PartName="/ppt/media/image6.jpeg" ContentType="image/jpeg"/>
  <Override PartName="/ppt/media/image58.wmf" ContentType="image/x-wmf"/>
  <Override PartName="/ppt/media/image5.jpeg" ContentType="image/jpeg"/>
  <Override PartName="/ppt/media/image40.png" ContentType="image/png"/>
  <Override PartName="/ppt/media/image4.jpeg" ContentType="image/jpeg"/>
  <Override PartName="/ppt/media/image7.jpeg" ContentType="image/jpeg"/>
  <Override PartName="/ppt/media/image10.jpeg" ContentType="image/jpeg"/>
  <Override PartName="/ppt/media/image42.png" ContentType="image/png"/>
  <Override PartName="/ppt/media/image20.png" ContentType="image/png"/>
  <Override PartName="/ppt/media/image1.jpeg" ContentType="image/jpeg"/>
  <Override PartName="/ppt/media/image21.png" ContentType="image/png"/>
  <Override PartName="/ppt/media/image47.gif" ContentType="image/gif"/>
  <Override PartName="/ppt/media/image23.png" ContentType="image/png"/>
  <Override PartName="/ppt/media/image16.jpeg" ContentType="image/jpeg"/>
  <Override PartName="/ppt/media/image62.wmf" ContentType="image/x-wmf"/>
  <Override PartName="/ppt/media/image22.png" ContentType="image/png"/>
  <Override PartName="/ppt/media/image27.wmf" ContentType="image/x-wmf"/>
  <Override PartName="/ppt/media/image29.png" ContentType="image/png"/>
  <Override PartName="/ppt/media/image25.jpeg" ContentType="image/jpeg"/>
  <Override PartName="/ppt/media/image30.png" ContentType="image/png"/>
  <Override PartName="/ppt/media/image15.jpeg" ContentType="image/jpeg"/>
  <Override PartName="/ppt/media/image33.png" ContentType="image/png"/>
  <Override PartName="/ppt/media/image17.jpeg" ContentType="image/jpeg"/>
  <Override PartName="/ppt/media/image11.jpeg" ContentType="image/jpeg"/>
  <Override PartName="/ppt/media/image19.jpeg" ContentType="image/jpeg"/>
  <Override PartName="/ppt/media/image18.jpeg" ContentType="image/jpeg"/>
  <Override PartName="/ppt/media/image43.png" ContentType="image/png"/>
  <Override PartName="/ppt/media/image50.gif" ContentType="image/gif"/>
  <Override PartName="/ppt/media/image26.png" ContentType="image/png"/>
  <Override PartName="/ppt/media/image8.jpeg" ContentType="image/jpeg"/>
  <Override PartName="/ppt/media/image60.wmf" ContentType="image/x-wmf"/>
  <Override PartName="/ppt/media/image14.jpeg" ContentType="image/jpeg"/>
  <Override PartName="/ppt/media/image38.png" ContentType="image/png"/>
  <Override PartName="/ppt/media/image24.svg" ContentType="image/svg"/>
  <Override PartName="/ppt/media/image37.png" ContentType="image/png"/>
  <Override PartName="/ppt/media/image28.png" ContentType="image/png"/>
  <Override PartName="/ppt/media/image13.jpeg" ContentType="image/jpeg"/>
  <Override PartName="/ppt/media/image12.jpeg" ContentType="image/jpeg"/>
  <Override PartName="/ppt/media/image2.jpeg" ContentType="image/jpeg"/>
  <Override PartName="/ppt/media/image31.png" ContentType="image/png"/>
  <Override PartName="/ppt/media/image32.png" ContentType="image/png"/>
  <Override PartName="/ppt/media/image34.png" ContentType="image/png"/>
  <Override PartName="/ppt/media/image35.png" ContentType="image/png"/>
  <Override PartName="/ppt/media/image9.jpeg" ContentType="image/jpeg"/>
  <Override PartName="/ppt/media/image36.png" ContentType="image/png"/>
  <Override PartName="/ppt/media/image61.wmf" ContentType="image/x-wmf"/>
  <Override PartName="/ppt/media/image39.png" ContentType="image/png"/>
  <Override PartName="/ppt/media/image3.jpeg" ContentType="image/jpeg"/>
  <Override PartName="/ppt/media/image41.png" ContentType="image/png"/>
  <Override PartName="/ppt/media/image44.png" ContentType="image/png"/>
  <Override PartName="/ppt/media/image45.png" ContentType="image/png"/>
  <Override PartName="/ppt/media/image52.gif" ContentType="image/gif"/>
  <Override PartName="/ppt/media/image46.png" ContentType="image/png"/>
  <Override PartName="/ppt/media/image53.gif" ContentType="image/gif"/>
  <Override PartName="/ppt/media/image48.gif" ContentType="image/gif"/>
  <Override PartName="/ppt/media/image49.gif" ContentType="image/gif"/>
  <Override PartName="/ppt/media/image51.gif" ContentType="image/gif"/>
  <Override PartName="/ppt/media/image54.png" ContentType="image/png"/>
  <Override PartName="/ppt/media/image55.wmf" ContentType="image/x-wmf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_rels/slideLayout3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7.xml.rels" ContentType="application/vnd.openxmlformats-package.relationships+xml"/>
  <Override PartName="/ppt/slides/_rels/slide24.xml.rels" ContentType="application/vnd.openxmlformats-package.relationships+xml"/>
  <Override PartName="/ppt/slides/_rels/slide34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22.xml.rels" ContentType="application/vnd.openxmlformats-package.relationships+xml"/>
  <Override PartName="/ppt/slides/_rels/slide5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9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27.xml.rels" ContentType="application/vnd.openxmlformats-package.relationships+xml"/>
  <Override PartName="/ppt/slides/_rels/slide12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34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3" r:id="rId14"/>
    <p:sldMasterId id="2147483675" r:id="rId15"/>
    <p:sldMasterId id="2147483677" r:id="rId16"/>
    <p:sldMasterId id="2147483679" r:id="rId17"/>
    <p:sldMasterId id="2147483681" r:id="rId18"/>
    <p:sldMasterId id="2147483683" r:id="rId19"/>
    <p:sldMasterId id="2147483685" r:id="rId20"/>
    <p:sldMasterId id="2147483687" r:id="rId21"/>
    <p:sldMasterId id="2147483689" r:id="rId22"/>
    <p:sldMasterId id="2147483691" r:id="rId23"/>
  </p:sldMasterIdLst>
  <p:sldIdLst>
    <p:sldId id="256" r:id="rId24"/>
    <p:sldId id="257" r:id="rId25"/>
    <p:sldId id="258" r:id="rId26"/>
    <p:sldId id="259" r:id="rId27"/>
    <p:sldId id="260" r:id="rId28"/>
    <p:sldId id="261" r:id="rId29"/>
    <p:sldId id="262" r:id="rId30"/>
    <p:sldId id="263" r:id="rId31"/>
    <p:sldId id="264" r:id="rId32"/>
    <p:sldId id="265" r:id="rId33"/>
    <p:sldId id="266" r:id="rId34"/>
    <p:sldId id="267" r:id="rId35"/>
    <p:sldId id="268" r:id="rId36"/>
    <p:sldId id="269" r:id="rId37"/>
    <p:sldId id="270" r:id="rId38"/>
    <p:sldId id="271" r:id="rId39"/>
    <p:sldId id="272" r:id="rId40"/>
    <p:sldId id="273" r:id="rId41"/>
    <p:sldId id="274" r:id="rId42"/>
    <p:sldId id="275" r:id="rId43"/>
    <p:sldId id="276" r:id="rId44"/>
    <p:sldId id="277" r:id="rId45"/>
    <p:sldId id="278" r:id="rId46"/>
    <p:sldId id="279" r:id="rId47"/>
    <p:sldId id="280" r:id="rId48"/>
    <p:sldId id="281" r:id="rId49"/>
    <p:sldId id="282" r:id="rId50"/>
    <p:sldId id="283" r:id="rId51"/>
    <p:sldId id="284" r:id="rId52"/>
    <p:sldId id="285" r:id="rId53"/>
    <p:sldId id="286" r:id="rId54"/>
    <p:sldId id="287" r:id="rId55"/>
    <p:sldId id="288" r:id="rId56"/>
    <p:sldId id="289" r:id="rId57"/>
  </p:sldIdLst>
  <p:sldSz cx="9144000" cy="5715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" Target="slides/slide1.xml"/><Relationship Id="rId25" Type="http://schemas.openxmlformats.org/officeDocument/2006/relationships/slide" Target="slides/slide2.xml"/><Relationship Id="rId26" Type="http://schemas.openxmlformats.org/officeDocument/2006/relationships/slide" Target="slides/slide3.xml"/><Relationship Id="rId27" Type="http://schemas.openxmlformats.org/officeDocument/2006/relationships/slide" Target="slides/slide4.xml"/><Relationship Id="rId28" Type="http://schemas.openxmlformats.org/officeDocument/2006/relationships/slide" Target="slides/slide5.xml"/><Relationship Id="rId29" Type="http://schemas.openxmlformats.org/officeDocument/2006/relationships/slide" Target="slides/slide6.xml"/><Relationship Id="rId30" Type="http://schemas.openxmlformats.org/officeDocument/2006/relationships/slide" Target="slides/slide7.xml"/><Relationship Id="rId31" Type="http://schemas.openxmlformats.org/officeDocument/2006/relationships/slide" Target="slides/slide8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1.xml"/><Relationship Id="rId35" Type="http://schemas.openxmlformats.org/officeDocument/2006/relationships/slide" Target="slides/slide12.xml"/><Relationship Id="rId36" Type="http://schemas.openxmlformats.org/officeDocument/2006/relationships/slide" Target="slides/slide13.xml"/><Relationship Id="rId37" Type="http://schemas.openxmlformats.org/officeDocument/2006/relationships/slide" Target="slides/slide14.xml"/><Relationship Id="rId38" Type="http://schemas.openxmlformats.org/officeDocument/2006/relationships/slide" Target="slides/slide15.xml"/><Relationship Id="rId39" Type="http://schemas.openxmlformats.org/officeDocument/2006/relationships/slide" Target="slides/slide16.xml"/><Relationship Id="rId40" Type="http://schemas.openxmlformats.org/officeDocument/2006/relationships/slide" Target="slides/slide17.xml"/><Relationship Id="rId41" Type="http://schemas.openxmlformats.org/officeDocument/2006/relationships/slide" Target="slides/slide18.xml"/><Relationship Id="rId42" Type="http://schemas.openxmlformats.org/officeDocument/2006/relationships/slide" Target="slides/slide19.xml"/><Relationship Id="rId43" Type="http://schemas.openxmlformats.org/officeDocument/2006/relationships/slide" Target="slides/slide20.xml"/><Relationship Id="rId44" Type="http://schemas.openxmlformats.org/officeDocument/2006/relationships/slide" Target="slides/slide21.xml"/><Relationship Id="rId45" Type="http://schemas.openxmlformats.org/officeDocument/2006/relationships/slide" Target="slides/slide22.xml"/><Relationship Id="rId46" Type="http://schemas.openxmlformats.org/officeDocument/2006/relationships/slide" Target="slides/slide23.xml"/><Relationship Id="rId47" Type="http://schemas.openxmlformats.org/officeDocument/2006/relationships/slide" Target="slides/slide24.xml"/><Relationship Id="rId48" Type="http://schemas.openxmlformats.org/officeDocument/2006/relationships/slide" Target="slides/slide25.xml"/><Relationship Id="rId49" Type="http://schemas.openxmlformats.org/officeDocument/2006/relationships/slide" Target="slides/slide26.xml"/><Relationship Id="rId50" Type="http://schemas.openxmlformats.org/officeDocument/2006/relationships/slide" Target="slides/slide27.xml"/><Relationship Id="rId51" Type="http://schemas.openxmlformats.org/officeDocument/2006/relationships/slide" Target="slides/slide28.xml"/><Relationship Id="rId52" Type="http://schemas.openxmlformats.org/officeDocument/2006/relationships/slide" Target="slides/slide29.xml"/><Relationship Id="rId53" Type="http://schemas.openxmlformats.org/officeDocument/2006/relationships/slide" Target="slides/slide30.xml"/><Relationship Id="rId54" Type="http://schemas.openxmlformats.org/officeDocument/2006/relationships/slide" Target="slides/slide31.xml"/><Relationship Id="rId55" Type="http://schemas.openxmlformats.org/officeDocument/2006/relationships/slide" Target="slides/slide32.xml"/><Relationship Id="rId56" Type="http://schemas.openxmlformats.org/officeDocument/2006/relationships/slide" Target="slides/slide33.xml"/><Relationship Id="rId57" Type="http://schemas.openxmlformats.org/officeDocument/2006/relationships/slide" Target="slides/slide34.xml"/><Relationship Id="rId5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8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Фина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9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Ckfq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79920"/>
            <a:ext cx="8229240" cy="1250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kfq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image" Target="../media/image3.jpeg"/><Relationship Id="rId3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image" Target="../media/image4.jpeg"/><Relationship Id="rId3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image" Target="../media/image7.jpeg"/><Relationship Id="rId3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image" Target="../media/image8.jpeg"/><Relationship Id="rId3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image" Target="../media/image10.jpeg"/><Relationship Id="rId3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1.jpeg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4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image" Target="../media/image9.jpeg"/><Relationship Id="rId3" Type="http://schemas.openxmlformats.org/officeDocument/2006/relationships/slideLayout" Target="../slideLayouts/slideLayout15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6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image" Target="../media/image12.jpeg"/><Relationship Id="rId3" Type="http://schemas.openxmlformats.org/officeDocument/2006/relationships/slideLayout" Target="../slideLayouts/slideLayout17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image" Target="../media/image13.jpeg"/><Relationship Id="rId3" Type="http://schemas.openxmlformats.org/officeDocument/2006/relationships/slideLayout" Target="../slideLayouts/slideLayout18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image" Target="../media/image14.jpeg"/><Relationship Id="rId3" Type="http://schemas.openxmlformats.org/officeDocument/2006/relationships/slideLayout" Target="../slideLayouts/slideLayout19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image" Target="../media/image15.jpeg"/><Relationship Id="rId3" Type="http://schemas.openxmlformats.org/officeDocument/2006/relationships/slideLayout" Target="../slideLayouts/slideLayout20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image" Target="../media/image16.jpeg"/><Relationship Id="rId3" Type="http://schemas.openxmlformats.org/officeDocument/2006/relationships/slideLayout" Target="../slideLayouts/slideLayout21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image" Target="../media/image17.jpeg"/><Relationship Id="rId3" Type="http://schemas.openxmlformats.org/officeDocument/2006/relationships/slideLayout" Target="../slideLayouts/slideLayout22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8.jpeg"/><Relationship Id="rId3" Type="http://schemas.openxmlformats.org/officeDocument/2006/relationships/slideLayout" Target="../slideLayouts/slideLayout23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extBox 3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TextBox 4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TextBox 6"/>
          <p:cNvSpPr/>
          <p:nvPr/>
        </p:nvSpPr>
        <p:spPr>
          <a:xfrm>
            <a:off x="5098320" y="54432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TextBox 7"/>
          <p:cNvSpPr/>
          <p:nvPr/>
        </p:nvSpPr>
        <p:spPr>
          <a:xfrm>
            <a:off x="5910840" y="47448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TextBox 1"/>
          <p:cNvSpPr/>
          <p:nvPr/>
        </p:nvSpPr>
        <p:spPr>
          <a:xfrm>
            <a:off x="5098320" y="54432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TextBox 2"/>
          <p:cNvSpPr/>
          <p:nvPr/>
        </p:nvSpPr>
        <p:spPr>
          <a:xfrm>
            <a:off x="5910840" y="47448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прав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ки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текст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а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загла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вия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щёлк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ните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мыш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</a:t>
            </a: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3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TextBox 4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я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пр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ав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ки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те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кс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та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заг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ла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ви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я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щ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ёл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кн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ит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е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м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ы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шь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3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TextBox 4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3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5" name="TextBox 4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3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TextBox 4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3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3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9" name="TextBox 4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3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3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1" name="TextBox 4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3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3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3" name="TextBox 4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3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3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TextBox 4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3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3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7" name="TextBox 4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3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3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TextBox 4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3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3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TextBox 4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</a:t>
            </a: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  <p:sldLayoutId id="2147483672" r:id="rId4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7" name="TextBox 4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4" r:id="rId3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Box 3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TextBox 4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6" r:id="rId3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Box 3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TextBox 4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8" r:id="rId3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Box 3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TextBox 4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0" r:id="rId3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3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5" name="TextBox 4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2" r:id="rId3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Box 3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TextBox 4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4" r:id="rId3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Box 3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TextBox 4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6" r:id="rId3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Box 3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3" name="TextBox 4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457200" y="227880"/>
            <a:ext cx="8229240" cy="954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ru-RU" sz="4400" spc="-1" strike="noStrike">
                <a:solidFill>
                  <a:srgbClr val="000000"/>
                </a:solidFill>
                <a:latin typeface="Arial"/>
              </a:rPr>
              <a:t>Для правки текста заглавия щёлкните мышью</a:t>
            </a:r>
            <a:endParaRPr b="0" lang="ru-RU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body"/>
          </p:nvPr>
        </p:nvSpPr>
        <p:spPr>
          <a:xfrm>
            <a:off x="457200" y="1337040"/>
            <a:ext cx="8229240" cy="331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32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8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3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3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TextBox 4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0" r:id="rId3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Box 3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9" name="TextBox 4"/>
          <p:cNvSpPr/>
          <p:nvPr/>
        </p:nvSpPr>
        <p:spPr>
          <a:xfrm>
            <a:off x="-865080" y="4593240"/>
            <a:ext cx="182160" cy="40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2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9.jpe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20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svg"/><Relationship Id="rId3" Type="http://schemas.openxmlformats.org/officeDocument/2006/relationships/slideLayout" Target="../slideLayouts/slideLayout20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5.jpeg"/><Relationship Id="rId2" Type="http://schemas.openxmlformats.org/officeDocument/2006/relationships/slideLayout" Target="../slideLayouts/slideLayout20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20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27.wmf"/><Relationship Id="rId3" Type="http://schemas.openxmlformats.org/officeDocument/2006/relationships/slideLayout" Target="../slideLayouts/slideLayout20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slideLayout" Target="../slideLayouts/slideLayout12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9.png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slideLayout" Target="../slideLayouts/slideLayout12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slideLayout" Target="../slideLayouts/slideLayout12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47.gif"/><Relationship Id="rId2" Type="http://schemas.openxmlformats.org/officeDocument/2006/relationships/slideLayout" Target="../slideLayouts/slideLayout13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48.gif"/><Relationship Id="rId2" Type="http://schemas.openxmlformats.org/officeDocument/2006/relationships/image" Target="../media/image49.gif"/><Relationship Id="rId3" Type="http://schemas.openxmlformats.org/officeDocument/2006/relationships/image" Target="../media/image50.gif"/><Relationship Id="rId4" Type="http://schemas.openxmlformats.org/officeDocument/2006/relationships/slideLayout" Target="../slideLayouts/slideLayout13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51.gif"/><Relationship Id="rId2" Type="http://schemas.openxmlformats.org/officeDocument/2006/relationships/image" Target="../media/image52.gif"/><Relationship Id="rId3" Type="http://schemas.openxmlformats.org/officeDocument/2006/relationships/image" Target="../media/image53.gif"/><Relationship Id="rId4" Type="http://schemas.openxmlformats.org/officeDocument/2006/relationships/image" Target="../media/image54.png"/><Relationship Id="rId5" Type="http://schemas.openxmlformats.org/officeDocument/2006/relationships/slideLayout" Target="../slideLayouts/slideLayout13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55.wmf"/><Relationship Id="rId3" Type="http://schemas.openxmlformats.org/officeDocument/2006/relationships/slideLayout" Target="../slideLayouts/slideLayout2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56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57.wmf"/><Relationship Id="rId5" Type="http://schemas.openxmlformats.org/officeDocument/2006/relationships/slideLayout" Target="../slideLayouts/slideLayout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58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59.wmf"/><Relationship Id="rId5" Type="http://schemas.openxmlformats.org/officeDocument/2006/relationships/slideLayout" Target="../slideLayouts/slideLayout2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oleObject" Target="../embeddings/oleObject1.bin"/><Relationship Id="rId2" Type="http://schemas.openxmlformats.org/officeDocument/2006/relationships/image" Target="../media/image60.wmf"/><Relationship Id="rId3" Type="http://schemas.openxmlformats.org/officeDocument/2006/relationships/oleObject" Target="../embeddings/oleObject2.bin"/><Relationship Id="rId4" Type="http://schemas.openxmlformats.org/officeDocument/2006/relationships/image" Target="../media/image61.wmf"/><Relationship Id="rId5" Type="http://schemas.openxmlformats.org/officeDocument/2006/relationships/oleObject" Target="../embeddings/oleObject3.bin"/><Relationship Id="rId6" Type="http://schemas.openxmlformats.org/officeDocument/2006/relationships/image" Target="../media/image62.wmf"/><Relationship Id="rId7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1371600" y="3080880"/>
            <a:ext cx="6398280" cy="780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4400" spc="-1" strike="noStrike">
                <a:solidFill>
                  <a:schemeClr val="lt1"/>
                </a:solidFill>
                <a:latin typeface="Golos Text DemiBold"/>
              </a:rPr>
              <a:t>Лекция 2. Введение в экономику СМО</a:t>
            </a:r>
            <a:endParaRPr b="0" lang="ru-RU" sz="4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Цель СМО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Picture 13" descr="A cartoon duck in a hat and red suit falling off a pile of coins&#10;&#10;Description automatically generated"/>
          <p:cNvPicPr/>
          <p:nvPr/>
        </p:nvPicPr>
        <p:blipFill>
          <a:blip r:embed="rId1"/>
          <a:stretch/>
        </p:blipFill>
        <p:spPr>
          <a:xfrm>
            <a:off x="6003360" y="1803600"/>
            <a:ext cx="2150280" cy="2932560"/>
          </a:xfrm>
          <a:prstGeom prst="rect">
            <a:avLst/>
          </a:prstGeom>
          <a:ln w="0">
            <a:noFill/>
          </a:ln>
        </p:spPr>
      </p:pic>
      <p:pic>
        <p:nvPicPr>
          <p:cNvPr id="63" name="Picture 14" descr=""/>
          <p:cNvPicPr/>
          <p:nvPr/>
        </p:nvPicPr>
        <p:blipFill>
          <a:blip r:embed="rId2"/>
          <a:stretch/>
        </p:blipFill>
        <p:spPr>
          <a:xfrm>
            <a:off x="540360" y="1803600"/>
            <a:ext cx="3972600" cy="2932560"/>
          </a:xfrm>
          <a:prstGeom prst="rect">
            <a:avLst/>
          </a:prstGeom>
          <a:ln w="0">
            <a:noFill/>
          </a:ln>
        </p:spPr>
      </p:pic>
      <p:sp>
        <p:nvSpPr>
          <p:cNvPr id="64" name="Right Arrow 2"/>
          <p:cNvSpPr/>
          <p:nvPr/>
        </p:nvSpPr>
        <p:spPr>
          <a:xfrm>
            <a:off x="4894560" y="3036600"/>
            <a:ext cx="873360" cy="466920"/>
          </a:xfrm>
          <a:prstGeom prst="rightArrow">
            <a:avLst>
              <a:gd name="adj1" fmla="val 50000"/>
              <a:gd name="adj2" fmla="val 50000"/>
            </a:avLst>
          </a:prstGeom>
          <a:gradFill rotWithShape="0">
            <a:gsLst>
              <a:gs pos="0">
                <a:srgbClr val="7f7f7f"/>
              </a:gs>
              <a:gs pos="100000">
                <a:srgbClr val="cccccc"/>
              </a:gs>
            </a:gsLst>
            <a:lin ang="16200000"/>
          </a:gradFill>
          <a:ln>
            <a:solidFill>
              <a:srgbClr val="7d7d7d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RU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/>
          </p:nvPr>
        </p:nvSpPr>
        <p:spPr>
          <a:xfrm>
            <a:off x="624240" y="1370520"/>
            <a:ext cx="7167600" cy="378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58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Скорость / качество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Сложность процесса / уровень сотрудника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Стандартизация / кастомизация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3" marL="16574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Сложность СМО / сложность ансамбля СМО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3" marL="16574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Простота / масштабируемость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3" marL="16574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Простота / способность реакции на неожиданное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Быстрый запуск / развиваемость в будущем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Простота / универсальность (в смысле других применений)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Прозрачность (</a:t>
            </a:r>
            <a:r>
              <a:rPr b="1" lang="en-RU" sz="1600" spc="-1" strike="noStrike">
                <a:solidFill>
                  <a:schemeClr val="dk1"/>
                </a:solidFill>
                <a:latin typeface="Golos Text"/>
              </a:rPr>
              <a:t>без компромиссов!</a:t>
            </a: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)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Основные компромиссы СМО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/>
          </p:nvPr>
        </p:nvSpPr>
        <p:spPr>
          <a:xfrm>
            <a:off x="624240" y="1370520"/>
            <a:ext cx="7167600" cy="378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858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Рисуем процесс обслуживания с ветвлениями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Выявляем узловые точки, там делаем блоки вход-выход (горизонтальное разбиение)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Выявляем независимые параллельные ветви обработки, делаем параллельные блоки (вертикальное разбиение)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Оцениваем параметры нагрузки, учитываем при деплое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Соотносим с административными границами и другими факторами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СМО / ансамль СМО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/>
          </p:nvPr>
        </p:nvSpPr>
        <p:spPr>
          <a:xfrm>
            <a:off x="507960" y="1991520"/>
            <a:ext cx="3633480" cy="174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4572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200" spc="-1" strike="noStrike">
                <a:solidFill>
                  <a:schemeClr val="dk1"/>
                </a:solidFill>
                <a:latin typeface="Golos Text"/>
              </a:rPr>
              <a:t>Количество заявок на обслуживание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200" spc="-1" strike="noStrike">
                <a:solidFill>
                  <a:schemeClr val="dk1"/>
                </a:solidFill>
                <a:latin typeface="Golos Text"/>
              </a:rPr>
              <a:t>Результат успешного выполнения заявки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200" spc="-1" strike="noStrike">
                <a:solidFill>
                  <a:schemeClr val="dk1"/>
                </a:solidFill>
                <a:latin typeface="Golos Text"/>
              </a:rPr>
              <a:t>Имидж при высоком качестве обслуживания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200" spc="-1" strike="noStrike">
                <a:solidFill>
                  <a:schemeClr val="dk1"/>
                </a:solidFill>
                <a:latin typeface="Golos Text"/>
              </a:rPr>
              <a:t>Синергетический эффект ансамбля СМО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507960" y="1313640"/>
            <a:ext cx="2958480" cy="65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RU" sz="1600" spc="-1" strike="noStrike" u="sng">
                <a:solidFill>
                  <a:schemeClr val="dk1"/>
                </a:solidFill>
                <a:uFillTx/>
                <a:latin typeface="Golos Text DemiBold"/>
              </a:rPr>
              <a:t>Факторы доходности СМО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title"/>
          </p:nvPr>
        </p:nvSpPr>
        <p:spPr>
          <a:xfrm>
            <a:off x="425520" y="31932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Экономика СМО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5000040" y="3345840"/>
            <a:ext cx="3633480" cy="174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4572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200" spc="-1" strike="noStrike">
                <a:solidFill>
                  <a:schemeClr val="dk1"/>
                </a:solidFill>
                <a:latin typeface="Golos Text"/>
              </a:rPr>
              <a:t>Затраты на обслуживание заявки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200" spc="-1" strike="noStrike">
                <a:solidFill>
                  <a:schemeClr val="dk1"/>
                </a:solidFill>
                <a:latin typeface="Golos Text"/>
              </a:rPr>
              <a:t>Потери при отказах в обслуживании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200" spc="-1" strike="noStrike">
                <a:solidFill>
                  <a:schemeClr val="dk1"/>
                </a:solidFill>
                <a:latin typeface="Golos Text"/>
              </a:rPr>
              <a:t>Затраты на управление и мониторинг СМО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200" spc="-1" strike="noStrike">
                <a:solidFill>
                  <a:schemeClr val="dk1"/>
                </a:solidFill>
                <a:latin typeface="Golos Text"/>
              </a:rPr>
              <a:t>Самообусловленные процессы в ансамбле СМО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200" spc="-1" strike="noStrike">
                <a:solidFill>
                  <a:schemeClr val="dk1"/>
                </a:solidFill>
                <a:latin typeface="Golos Text"/>
              </a:rPr>
              <a:t>Затраты на администрирование частично обработанных заявок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200" spc="-1" strike="noStrike">
                <a:solidFill>
                  <a:schemeClr val="dk1"/>
                </a:solidFill>
                <a:latin typeface="Golos Text"/>
              </a:rPr>
              <a:t>Инвестиции в развитие СМО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5000040" y="2667960"/>
            <a:ext cx="2958480" cy="65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RU" sz="1600" spc="-1" strike="noStrike" u="sng">
                <a:solidFill>
                  <a:schemeClr val="dk1"/>
                </a:solidFill>
                <a:uFillTx/>
                <a:latin typeface="Golos Text DemiBold"/>
              </a:rPr>
              <a:t>Расходные факторы СМО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 Box 4"/>
          <p:cNvSpPr/>
          <p:nvPr/>
        </p:nvSpPr>
        <p:spPr>
          <a:xfrm>
            <a:off x="624240" y="1370520"/>
            <a:ext cx="5315400" cy="378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 fontScale="96666"/>
          </a:bodyPr>
          <a:p>
            <a:pPr defTabSz="457200">
              <a:lnSpc>
                <a:spcPct val="115000"/>
              </a:lnSpc>
              <a:tabLst>
                <a:tab algn="l" pos="0"/>
              </a:tabLst>
            </a:pP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Параметры 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СМО</a:t>
            </a: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 для </a:t>
            </a:r>
            <a:r>
              <a:rPr b="1" lang="en-RU" sz="1600" spc="-1" strike="noStrike">
                <a:solidFill>
                  <a:schemeClr val="dk1"/>
                </a:solidFill>
                <a:latin typeface="Golos Text"/>
              </a:rPr>
              <a:t>экономического анализа</a:t>
            </a: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: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15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входящий поток требований или заявок на обслуживание;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1" marL="561960" indent="-285840" defTabSz="457200">
              <a:lnSpc>
                <a:spcPct val="115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lang="en-RU" sz="1400" spc="-1" strike="noStrike">
                <a:solidFill>
                  <a:schemeClr val="dk1"/>
                </a:solidFill>
                <a:latin typeface="Golos Text"/>
              </a:rPr>
              <a:t>правила фильтрации заявок 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15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дисциплин</a:t>
            </a: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а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 постановки в очередь и выбор</a:t>
            </a: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а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 из нее;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15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правил</a:t>
            </a: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а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, по котор</a:t>
            </a: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ы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м осуществляется обслуживание;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lvl="1" marL="561960" indent="-285840" defTabSz="457200">
              <a:lnSpc>
                <a:spcPct val="115000"/>
              </a:lnSpc>
              <a:buClr>
                <a:srgbClr val="000000"/>
              </a:buClr>
              <a:buFont typeface="Wingdings" charset="2"/>
              <a:buChar char=""/>
              <a:tabLst>
                <a:tab algn="l" pos="0"/>
              </a:tabLst>
            </a:pPr>
            <a:r>
              <a:rPr b="0" lang="en-RU" sz="1400" spc="-1" strike="noStrike">
                <a:solidFill>
                  <a:schemeClr val="dk1"/>
                </a:solidFill>
                <a:latin typeface="Golos Text"/>
              </a:rPr>
              <a:t>правила частичного обслуживания заявки в ансамбле систем;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15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выходящий поток требований</a:t>
            </a:r>
            <a:r>
              <a:rPr b="0" lang="en-RU" sz="1600" spc="-1" strike="noStrike">
                <a:solidFill>
                  <a:schemeClr val="dk1"/>
                </a:solidFill>
                <a:latin typeface="Golos Text"/>
              </a:rPr>
              <a:t> (вход следующей СМО)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;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15000"/>
              </a:lnSpc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Noto Sans CJK SC"/>
              </a:rPr>
              <a:t>режимы работы</a:t>
            </a:r>
            <a:r>
              <a:rPr b="0" lang="en-RU" sz="1600" spc="-1" strike="noStrike">
                <a:solidFill>
                  <a:schemeClr val="dk1"/>
                </a:solidFill>
                <a:latin typeface="Golos Text"/>
                <a:ea typeface="Noto Sans CJK SC"/>
              </a:rPr>
              <a:t> СМО.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25520" y="31572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Экономика СМО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6" name="" descr=""/>
          <p:cNvPicPr/>
          <p:nvPr/>
        </p:nvPicPr>
        <p:blipFill>
          <a:blip r:embed="rId1"/>
          <a:stretch/>
        </p:blipFill>
        <p:spPr>
          <a:xfrm>
            <a:off x="6120000" y="1080000"/>
            <a:ext cx="2159640" cy="4474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RU" sz="3000" spc="-1" strike="noStrike">
                <a:solidFill>
                  <a:schemeClr val="lt1"/>
                </a:solidFill>
                <a:latin typeface="Golos Text DemiBold"/>
              </a:rPr>
              <a:t>Описание входящего потока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 Box 2"/>
          <p:cNvSpPr/>
          <p:nvPr/>
        </p:nvSpPr>
        <p:spPr>
          <a:xfrm>
            <a:off x="457200" y="1500480"/>
            <a:ext cx="4112280" cy="38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marL="285840" indent="-285840" defTabSz="4572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1" lang="en-US" sz="1500" spc="-1" strike="noStrike">
                <a:solidFill>
                  <a:schemeClr val="dk1"/>
                </a:solidFill>
                <a:latin typeface="Arial"/>
              </a:rPr>
              <a:t>Закон поступления требований в систему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defTabSz="457200">
              <a:lnSpc>
                <a:spcPct val="90000"/>
              </a:lnSpc>
              <a:spcBef>
                <a:spcPts val="2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</a:rPr>
              <a:t>Интенсивность + распределение по времени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defTabSz="457200">
              <a:lnSpc>
                <a:spcPct val="90000"/>
              </a:lnSpc>
              <a:spcBef>
                <a:spcPts val="2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</a:rPr>
              <a:t>Распределение временных интервалов между заявками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90000"/>
              </a:lnSpc>
              <a:spcBef>
                <a:spcPts val="261"/>
              </a:spcBef>
            </a:pP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90000"/>
              </a:lnSpc>
              <a:spcBef>
                <a:spcPts val="261"/>
              </a:spcBef>
            </a:pP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9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Arial"/>
              </a:rPr>
              <a:t>Правила </a:t>
            </a:r>
            <a:r>
              <a:rPr b="1" lang="en-US" sz="1500" spc="-1" strike="noStrike">
                <a:solidFill>
                  <a:schemeClr val="dk1"/>
                </a:solidFill>
                <a:latin typeface="Arial"/>
              </a:rPr>
              <a:t>входной фильтрации</a:t>
            </a:r>
            <a:r>
              <a:rPr b="0" lang="en-US" sz="1500" spc="-1" strike="noStrike">
                <a:solidFill>
                  <a:schemeClr val="dk1"/>
                </a:solidFill>
                <a:latin typeface="Arial"/>
              </a:rPr>
              <a:t> обращений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defTabSz="457200">
              <a:lnSpc>
                <a:spcPct val="90000"/>
              </a:lnSpc>
              <a:spcBef>
                <a:spcPts val="2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</a:rPr>
              <a:t>По распределению характеристик (пороги)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defTabSz="457200">
              <a:lnSpc>
                <a:spcPct val="90000"/>
              </a:lnSpc>
              <a:spcBef>
                <a:spcPts val="2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</a:rPr>
              <a:t>По параметрическим критериям 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defTabSz="457200">
              <a:lnSpc>
                <a:spcPct val="90000"/>
              </a:lnSpc>
              <a:spcBef>
                <a:spcPts val="2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</a:rPr>
              <a:t>По характеристикам СМО в момент поступления заявки (с обратной связью)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90000"/>
              </a:lnSpc>
              <a:spcBef>
                <a:spcPts val="261"/>
              </a:spcBef>
            </a:pP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9" name="Graphic 2" descr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4572000" y="1728000"/>
            <a:ext cx="4254840" cy="2932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Box 3"/>
          <p:cNvSpPr/>
          <p:nvPr/>
        </p:nvSpPr>
        <p:spPr>
          <a:xfrm>
            <a:off x="1153800" y="5256720"/>
            <a:ext cx="63972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fld id="{1885AA55-F6C6-442C-A65E-0B4445E31E07}" type="slidenum">
              <a:rPr b="0" lang="ru-RU" sz="1350" spc="-1" strike="noStrike">
                <a:solidFill>
                  <a:schemeClr val="lt1"/>
                </a:solidFill>
                <a:latin typeface="Calibri"/>
              </a:rPr>
              <a:t>&lt;номер&gt;</a:t>
            </a:fld>
            <a:endParaRPr b="0" lang="ru-RU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Box 1"/>
          <p:cNvSpPr/>
          <p:nvPr/>
        </p:nvSpPr>
        <p:spPr>
          <a:xfrm>
            <a:off x="600480" y="1416600"/>
            <a:ext cx="4259160" cy="38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858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Arial"/>
              </a:rPr>
              <a:t>По</a:t>
            </a:r>
            <a:r>
              <a:rPr b="0" lang="ru-RU" sz="1400" spc="-1" strike="noStrike">
                <a:solidFill>
                  <a:schemeClr val="dk1"/>
                </a:solidFill>
                <a:latin typeface="Arial"/>
              </a:rPr>
              <a:t>рядок </a:t>
            </a:r>
            <a:r>
              <a:rPr b="1" lang="ru-RU" sz="1400" spc="-1" strike="noStrike">
                <a:solidFill>
                  <a:schemeClr val="dk1"/>
                </a:solidFill>
                <a:latin typeface="Arial"/>
              </a:rPr>
              <a:t>постановки</a:t>
            </a:r>
            <a:r>
              <a:rPr b="0" lang="ru-RU" sz="1400" spc="-1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0" lang="en-RU" sz="1400" spc="-1" strike="noStrike">
                <a:solidFill>
                  <a:schemeClr val="dk1"/>
                </a:solidFill>
                <a:latin typeface="Arial"/>
              </a:rPr>
              <a:t>заявки </a:t>
            </a:r>
            <a:r>
              <a:rPr b="0" lang="ru-RU" sz="1400" spc="-1" strike="noStrike">
                <a:solidFill>
                  <a:schemeClr val="dk1"/>
                </a:solidFill>
                <a:latin typeface="Arial"/>
              </a:rPr>
              <a:t>в очередь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400" spc="-1" strike="noStrike">
                <a:solidFill>
                  <a:schemeClr val="dk1"/>
                </a:solidFill>
                <a:latin typeface="Arial"/>
              </a:rPr>
              <a:t>FIFO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400" spc="-1" strike="noStrike">
                <a:solidFill>
                  <a:schemeClr val="dk1"/>
                </a:solidFill>
                <a:latin typeface="Arial"/>
              </a:rPr>
              <a:t>LIFO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400" spc="-1" strike="noStrike">
                <a:solidFill>
                  <a:schemeClr val="dk1"/>
                </a:solidFill>
                <a:latin typeface="Arial"/>
              </a:rPr>
              <a:t>Random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400" spc="-1" strike="noStrike">
                <a:solidFill>
                  <a:schemeClr val="dk1"/>
                </a:solidFill>
                <a:latin typeface="Arial"/>
              </a:rPr>
              <a:t>Постановка по параметрам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400" spc="-1" strike="noStrike">
                <a:solidFill>
                  <a:schemeClr val="dk1"/>
                </a:solidFill>
                <a:latin typeface="Arial"/>
              </a:rPr>
              <a:t>Выборка по параметрам заявки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spcBef>
                <a:spcPts val="281"/>
              </a:spcBef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1" lang="en-RU" sz="1400" spc="-1" strike="noStrike">
                <a:solidFill>
                  <a:schemeClr val="dk1"/>
                </a:solidFill>
                <a:latin typeface="Arial"/>
              </a:rPr>
              <a:t>Ограничения на параметры </a:t>
            </a:r>
            <a:r>
              <a:rPr b="0" lang="en-RU" sz="1400" spc="-1" strike="noStrike">
                <a:solidFill>
                  <a:schemeClr val="dk1"/>
                </a:solidFill>
                <a:latin typeface="Arial"/>
              </a:rPr>
              <a:t>очереди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400" spc="-1" strike="noStrike">
                <a:solidFill>
                  <a:schemeClr val="dk1"/>
                </a:solidFill>
                <a:latin typeface="Arial"/>
              </a:rPr>
              <a:t>Длина (неограниченная, ограниченная)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400" spc="-1" strike="noStrike">
                <a:solidFill>
                  <a:schemeClr val="dk1"/>
                </a:solidFill>
                <a:latin typeface="Arial"/>
              </a:rPr>
              <a:t>Время ожидания в очереди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400" spc="-1" strike="noStrike">
                <a:solidFill>
                  <a:schemeClr val="dk1"/>
                </a:solidFill>
                <a:latin typeface="Arial"/>
              </a:rPr>
              <a:t>Приоритеты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spcBef>
                <a:spcPts val="281"/>
              </a:spcBef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1" lang="en-RU" sz="1400" spc="-1" strike="noStrike">
                <a:solidFill>
                  <a:schemeClr val="dk1"/>
                </a:solidFill>
                <a:latin typeface="Arial"/>
              </a:rPr>
              <a:t>Организация очередей в системе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spcBef>
                <a:spcPts val="281"/>
              </a:spcBef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74680" indent="-274680" algn="just" defTabSz="4572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Rectangle 12"/>
          <p:cNvSpPr/>
          <p:nvPr/>
        </p:nvSpPr>
        <p:spPr>
          <a:xfrm>
            <a:off x="1520280" y="5107320"/>
            <a:ext cx="623520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b="0" lang="en-RU" sz="13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3888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Дисциплина управления очередью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4" name="Picture 1" descr="A group of people standing and standing&#10;&#10;Description automatically generated"/>
          <p:cNvPicPr/>
          <p:nvPr/>
        </p:nvPicPr>
        <p:blipFill>
          <a:blip r:embed="rId1"/>
          <a:stretch/>
        </p:blipFill>
        <p:spPr>
          <a:xfrm>
            <a:off x="5110200" y="1947240"/>
            <a:ext cx="2985840" cy="2776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Box 5"/>
          <p:cNvSpPr/>
          <p:nvPr/>
        </p:nvSpPr>
        <p:spPr>
          <a:xfrm>
            <a:off x="1153800" y="5256720"/>
            <a:ext cx="639720" cy="20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457200">
              <a:lnSpc>
                <a:spcPct val="100000"/>
              </a:lnSpc>
            </a:pPr>
            <a:fld id="{10C5F904-A95C-4590-AD80-AF3AB582A018}" type="slidenum">
              <a:rPr b="0" lang="ru-RU" sz="1350" spc="-1" strike="noStrike">
                <a:solidFill>
                  <a:schemeClr val="lt1"/>
                </a:solidFill>
                <a:latin typeface="Calibri"/>
              </a:rPr>
              <a:t>&lt;номер&gt;</a:t>
            </a:fld>
            <a:endParaRPr b="0" lang="ru-RU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Text Box 7"/>
          <p:cNvSpPr/>
          <p:nvPr/>
        </p:nvSpPr>
        <p:spPr>
          <a:xfrm>
            <a:off x="600480" y="1416600"/>
            <a:ext cx="4631040" cy="383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2858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1" lang="en-RU" sz="1400" spc="-1" strike="noStrike">
                <a:solidFill>
                  <a:schemeClr val="dk1"/>
                </a:solidFill>
                <a:latin typeface="Arial"/>
              </a:rPr>
              <a:t>Длительность</a:t>
            </a:r>
            <a:r>
              <a:rPr b="0" lang="en-RU" sz="1400" spc="-1" strike="noStrike">
                <a:solidFill>
                  <a:schemeClr val="dk1"/>
                </a:solidFill>
                <a:latin typeface="Arial"/>
              </a:rPr>
              <a:t> обслуживания 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400" spc="-1" strike="noStrike">
                <a:solidFill>
                  <a:schemeClr val="dk1"/>
                </a:solidFill>
                <a:latin typeface="Arial"/>
              </a:rPr>
              <a:t>Фиксированная / детерминированная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400" spc="-1" strike="noStrike">
                <a:solidFill>
                  <a:schemeClr val="dk1"/>
                </a:solidFill>
                <a:latin typeface="Arial"/>
              </a:rPr>
              <a:t>Случайная, заданная функцией распределения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400" spc="-1" strike="noStrike">
                <a:solidFill>
                  <a:schemeClr val="dk1"/>
                </a:solidFill>
                <a:latin typeface="Arial"/>
              </a:rPr>
              <a:t>Параметрическая (заданная по параметрам заявки)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spcBef>
                <a:spcPts val="281"/>
              </a:spcBef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400" spc="-1" strike="noStrike">
                <a:solidFill>
                  <a:schemeClr val="dk1"/>
                </a:solidFill>
                <a:latin typeface="Arial"/>
              </a:rPr>
              <a:t>Количество</a:t>
            </a:r>
            <a:r>
              <a:rPr b="1" lang="en-RU" sz="1400" spc="-1" strike="noStrike">
                <a:solidFill>
                  <a:schemeClr val="dk1"/>
                </a:solidFill>
                <a:latin typeface="Arial"/>
              </a:rPr>
              <a:t> каналов обслуживания 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spcBef>
                <a:spcPts val="281"/>
              </a:spcBef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400" spc="-1" strike="noStrike">
                <a:solidFill>
                  <a:schemeClr val="dk1"/>
                </a:solidFill>
                <a:latin typeface="Arial"/>
              </a:rPr>
              <a:t>Количество</a:t>
            </a:r>
            <a:r>
              <a:rPr b="1" lang="en-RU" sz="1400" spc="-1" strike="noStrike">
                <a:solidFill>
                  <a:schemeClr val="dk1"/>
                </a:solidFill>
                <a:latin typeface="Arial"/>
              </a:rPr>
              <a:t> фаз обслуживания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400" spc="-1" strike="noStrike">
                <a:solidFill>
                  <a:schemeClr val="dk1"/>
                </a:solidFill>
                <a:latin typeface="Arial"/>
              </a:rPr>
              <a:t>Однофазная СМО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400" spc="-1" strike="noStrike">
                <a:solidFill>
                  <a:schemeClr val="dk1"/>
                </a:solidFill>
                <a:latin typeface="Arial"/>
              </a:rPr>
              <a:t>Многофазная СМО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5414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115000"/>
              <a:buFont typeface="Arial"/>
              <a:buChar char="•"/>
            </a:pPr>
            <a:r>
              <a:rPr b="0" lang="en-RU" sz="1400" spc="-1" strike="noStrike">
                <a:solidFill>
                  <a:schemeClr val="dk1"/>
                </a:solidFill>
                <a:latin typeface="Arial"/>
              </a:rPr>
              <a:t>Многофазная СМО с возвратами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algn="just" defTabSz="457200">
              <a:lnSpc>
                <a:spcPct val="100000"/>
              </a:lnSpc>
              <a:spcBef>
                <a:spcPts val="281"/>
              </a:spcBef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74680" indent="-274680" algn="just" defTabSz="457200">
              <a:lnSpc>
                <a:spcPct val="100000"/>
              </a:lnSpc>
              <a:spcBef>
                <a:spcPts val="360"/>
              </a:spcBef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7222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Правила обслуживания в очереди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Picture 15" descr="A group of people standing in front of a window&#10;&#10;Description automatically generated"/>
          <p:cNvPicPr/>
          <p:nvPr/>
        </p:nvPicPr>
        <p:blipFill>
          <a:blip r:embed="rId1"/>
          <a:stretch/>
        </p:blipFill>
        <p:spPr>
          <a:xfrm>
            <a:off x="5374800" y="1817640"/>
            <a:ext cx="3120120" cy="3035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/>
          </p:nvPr>
        </p:nvSpPr>
        <p:spPr>
          <a:xfrm>
            <a:off x="507960" y="1991520"/>
            <a:ext cx="3633480" cy="174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171360" indent="-171360" defTabSz="4572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200" spc="-1" strike="noStrike">
                <a:solidFill>
                  <a:schemeClr val="dk1"/>
                </a:solidFill>
                <a:latin typeface="Golos Text"/>
              </a:rPr>
              <a:t>Бесприоритетная (в порядке очереди)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200" spc="-1" strike="noStrike">
                <a:solidFill>
                  <a:schemeClr val="dk1"/>
                </a:solidFill>
                <a:latin typeface="Golos Text"/>
              </a:rPr>
              <a:t>Приоритет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 defTabSz="45720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050" spc="-1" strike="noStrike">
                <a:solidFill>
                  <a:schemeClr val="dk1"/>
                </a:solidFill>
                <a:latin typeface="Golos Text"/>
              </a:rPr>
              <a:t>Статический </a:t>
            </a:r>
            <a:endParaRPr b="0" lang="ru-RU" sz="105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 defTabSz="45720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050" spc="-1" strike="noStrike">
                <a:solidFill>
                  <a:schemeClr val="dk1"/>
                </a:solidFill>
                <a:latin typeface="Golos Text"/>
              </a:rPr>
              <a:t>Динамический</a:t>
            </a:r>
            <a:endParaRPr b="0" lang="ru-RU" sz="105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 defTabSz="457200">
              <a:lnSpc>
                <a:spcPct val="100000"/>
              </a:lnSpc>
              <a:spcBef>
                <a:spcPts val="210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050" spc="-1" strike="noStrike">
                <a:solidFill>
                  <a:schemeClr val="dk1"/>
                </a:solidFill>
                <a:latin typeface="Golos Text"/>
              </a:rPr>
              <a:t>С обратной связью</a:t>
            </a:r>
            <a:endParaRPr b="0" lang="ru-RU" sz="105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200" spc="-1" strike="noStrike">
                <a:solidFill>
                  <a:schemeClr val="dk1"/>
                </a:solidFill>
                <a:latin typeface="Golos Text"/>
              </a:rPr>
              <a:t>Приоритезация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 defTabSz="4572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200" spc="-1" strike="noStrike">
                <a:solidFill>
                  <a:schemeClr val="dk1"/>
                </a:solidFill>
                <a:latin typeface="Golos Text"/>
              </a:rPr>
              <a:t>Вытесняющая / Абсолютная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lvl="1" marL="628560" indent="-171360" defTabSz="4572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200" spc="-1" strike="noStrike">
                <a:solidFill>
                  <a:schemeClr val="dk1"/>
                </a:solidFill>
                <a:latin typeface="Golos Text"/>
              </a:rPr>
              <a:t>Корпоративная / Относительная 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51"/>
              </a:spcBef>
              <a:buNone/>
              <a:tabLst>
                <a:tab algn="l" pos="0"/>
              </a:tabLst>
            </a:pPr>
            <a:endParaRPr b="0" lang="ru-RU" sz="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507960" y="1313640"/>
            <a:ext cx="2958480" cy="65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RU" sz="1600" spc="-1" strike="noStrike" u="sng">
                <a:solidFill>
                  <a:schemeClr val="dk1"/>
                </a:solidFill>
                <a:uFillTx/>
                <a:latin typeface="Golos Text DemiBold"/>
              </a:rPr>
              <a:t>Приоритет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3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RU" sz="3000" spc="-1" strike="noStrike">
                <a:solidFill>
                  <a:schemeClr val="lt1"/>
                </a:solidFill>
                <a:latin typeface="Golos Text DemiBold"/>
              </a:rPr>
              <a:t>Дисциплина обработки заявок</a:t>
            </a:r>
            <a:endParaRPr b="0" lang="ru-RU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4"/>
          <p:cNvSpPr>
            <a:spLocks noGrp="1"/>
          </p:cNvSpPr>
          <p:nvPr>
            <p:ph/>
          </p:nvPr>
        </p:nvSpPr>
        <p:spPr>
          <a:xfrm>
            <a:off x="5000040" y="3597840"/>
            <a:ext cx="3633480" cy="1745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171360" indent="-171360" defTabSz="4572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200" spc="-1" strike="noStrike">
                <a:solidFill>
                  <a:schemeClr val="dk1"/>
                </a:solidFill>
                <a:latin typeface="Golos Text"/>
              </a:rPr>
              <a:t>Отказ в обслуживании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200" spc="-1" strike="noStrike">
                <a:solidFill>
                  <a:schemeClr val="dk1"/>
                </a:solidFill>
                <a:latin typeface="Golos Text"/>
              </a:rPr>
              <a:t>Возврат в очередь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200" spc="-1" strike="noStrike">
                <a:solidFill>
                  <a:schemeClr val="dk1"/>
                </a:solidFill>
                <a:latin typeface="Golos Text"/>
              </a:rPr>
              <a:t>Перераспределение в очередь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200" spc="-1" strike="noStrike">
                <a:solidFill>
                  <a:schemeClr val="dk1"/>
                </a:solidFill>
                <a:latin typeface="Golos Text"/>
              </a:rPr>
              <a:t>Вероятность / распределение возвратов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marL="171360" indent="-171360" defTabSz="457200">
              <a:lnSpc>
                <a:spcPct val="100000"/>
              </a:lnSpc>
              <a:spcBef>
                <a:spcPts val="241"/>
              </a:spcBef>
              <a:buClr>
                <a:srgbClr val="000000"/>
              </a:buClr>
              <a:buFont typeface="Arial"/>
              <a:buChar char="•"/>
            </a:pPr>
            <a:r>
              <a:rPr b="0" lang="en-RU" sz="1200" spc="-1" strike="noStrike">
                <a:solidFill>
                  <a:schemeClr val="dk1"/>
                </a:solidFill>
                <a:latin typeface="Golos Text"/>
              </a:rPr>
              <a:t>Дисциплина возврата </a:t>
            </a: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endParaRPr b="0" lang="ru-RU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5"/>
          <p:cNvSpPr>
            <a:spLocks noGrp="1"/>
          </p:cNvSpPr>
          <p:nvPr>
            <p:ph/>
          </p:nvPr>
        </p:nvSpPr>
        <p:spPr>
          <a:xfrm>
            <a:off x="5000040" y="2667960"/>
            <a:ext cx="2958480" cy="658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RU" sz="1600" spc="-1" strike="noStrike" u="sng">
                <a:solidFill>
                  <a:schemeClr val="dk1"/>
                </a:solidFill>
                <a:uFillTx/>
                <a:latin typeface="Golos Text DemiBold"/>
              </a:rPr>
              <a:t>Политика обработки отказов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3"/>
          <p:cNvSpPr/>
          <p:nvPr/>
        </p:nvSpPr>
        <p:spPr>
          <a:xfrm>
            <a:off x="725040" y="1241640"/>
            <a:ext cx="7079400" cy="377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marL="343080" indent="-343080" algn="just"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Для СМО любого вида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tabLst>
                <a:tab algn="l" pos="0"/>
              </a:tabLst>
            </a:pPr>
            <a:r>
              <a:rPr b="0" lang="en-RU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для</a:t>
            </a:r>
            <a:r>
              <a:rPr b="0" lang="en-RU" sz="1800" spc="-1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0" i="1" lang="ru-RU" sz="1800" spc="-1" strike="noStrike">
                <a:solidFill>
                  <a:schemeClr val="dk1"/>
                </a:solidFill>
                <a:latin typeface="Arial"/>
              </a:rPr>
              <a:t>любого распределения времени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 между двумя событиями поступления требований,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tabLst>
                <a:tab algn="l" pos="0"/>
              </a:tabLst>
            </a:pPr>
            <a:r>
              <a:rPr b="0" lang="en-RU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ru-RU" sz="1800" spc="-1" strike="noStrike">
                <a:solidFill>
                  <a:schemeClr val="dk1"/>
                </a:solidFill>
                <a:latin typeface="Arial"/>
              </a:rPr>
              <a:t>любого распределения времени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 их обслуживания,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tabLst>
                <a:tab algn="l" pos="0"/>
              </a:tabLst>
            </a:pPr>
            <a:r>
              <a:rPr b="0" lang="en-RU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ru-RU" sz="1800" spc="-1" strike="noStrike">
                <a:solidFill>
                  <a:schemeClr val="dk1"/>
                </a:solidFill>
                <a:latin typeface="Arial"/>
              </a:rPr>
              <a:t>любого количества устройств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 обслуживания и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tabLst>
                <a:tab algn="l" pos="0"/>
              </a:tabLst>
            </a:pPr>
            <a:r>
              <a:rPr b="0" lang="en-RU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i="1" lang="ru-RU" sz="1800" spc="-1" strike="noStrike">
                <a:solidFill>
                  <a:schemeClr val="dk1"/>
                </a:solidFill>
                <a:latin typeface="Arial"/>
              </a:rPr>
              <a:t>любой дисциплины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 обслуживания 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среднее количество требований в СМО определяется через интенсивность поступления</a:t>
            </a:r>
            <a:r>
              <a:rPr b="0" i="1" lang="ru-RU" sz="1800" spc="-1" strike="noStrike">
                <a:solidFill>
                  <a:schemeClr val="dk1"/>
                </a:solidFill>
                <a:latin typeface="Arial"/>
              </a:rPr>
              <a:t> 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и среднее время пребывания требований в системе </a:t>
            </a:r>
            <a:r>
              <a:rPr b="0" i="1" lang="ru-RU" sz="1800" spc="-1" strike="noStrike">
                <a:solidFill>
                  <a:schemeClr val="dk1"/>
                </a:solidFill>
                <a:latin typeface="Arial"/>
              </a:rPr>
              <a:t>Т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, то есть: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4572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457200">
              <a:lnSpc>
                <a:spcPct val="100000"/>
              </a:lnSpc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	</a:t>
            </a: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	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 algn="just" defTabSz="457200">
              <a:lnSpc>
                <a:spcPct val="100000"/>
              </a:lnSpc>
              <a:tabLst>
                <a:tab algn="l" pos="0"/>
              </a:tabLst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Rectangle 14"/>
          <p:cNvSpPr/>
          <p:nvPr/>
        </p:nvSpPr>
        <p:spPr>
          <a:xfrm>
            <a:off x="1143000" y="-166680"/>
            <a:ext cx="18216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>
              <a:lnSpc>
                <a:spcPct val="100000"/>
              </a:lnSpc>
            </a:pPr>
            <a:endParaRPr b="0" lang="en-RU" sz="135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6" name="Rectangle 15"/>
          <p:cNvSpPr/>
          <p:nvPr/>
        </p:nvSpPr>
        <p:spPr>
          <a:xfrm>
            <a:off x="1143000" y="2607120"/>
            <a:ext cx="182160" cy="3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spAutoFit/>
          </a:bodyPr>
          <a:p>
            <a:pPr>
              <a:lnSpc>
                <a:spcPct val="100000"/>
              </a:lnSpc>
            </a:pPr>
            <a:endParaRPr b="0" lang="en-RU" sz="1350" spc="-1" strike="noStrike">
              <a:solidFill>
                <a:schemeClr val="dk1"/>
              </a:solidFill>
              <a:latin typeface="Calibri"/>
            </a:endParaRPr>
          </a:p>
        </p:txBody>
      </p:sp>
      <p:graphicFrame>
        <p:nvGraphicFramePr>
          <p:cNvPr id="97" name="Object 3"/>
          <p:cNvGraphicFramePr/>
          <p:nvPr/>
        </p:nvGraphicFramePr>
        <p:xfrm>
          <a:off x="3618360" y="4197960"/>
          <a:ext cx="1292760" cy="54648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98" name="Object 3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3618360" y="4197960"/>
                    <a:ext cx="1292760" cy="5464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Закон Литтла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dk1"/>
                </a:solidFill>
                <a:latin typeface="Golos Text DemiBold"/>
              </a:rPr>
              <a:t>Экономический анализ СМО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346400"/>
            <a:ext cx="7464960" cy="382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858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rgbClr val="000000"/>
                </a:solidFill>
                <a:latin typeface="-webkit-standard"/>
              </a:rPr>
              <a:t>вероятность обслуживания клиента системой;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rgbClr val="000000"/>
                </a:solidFill>
                <a:latin typeface="-webkit-standard"/>
              </a:rPr>
              <a:t>пропускная способность системы;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rgbClr val="000000"/>
                </a:solidFill>
                <a:latin typeface="-webkit-standard"/>
              </a:rPr>
              <a:t>вероятность отказа клиенту в обслуживании;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rgbClr val="000000"/>
                </a:solidFill>
                <a:latin typeface="-webkit-standard"/>
              </a:rPr>
              <a:t>вероятность занятости каждого из канала и всех вместе;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rgbClr val="000000"/>
                </a:solidFill>
                <a:latin typeface="-webkit-standard"/>
              </a:rPr>
              <a:t>среднее время занятости каждого канала;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rgbClr val="000000"/>
                </a:solidFill>
                <a:latin typeface="-webkit-standard"/>
              </a:rPr>
              <a:t>вероятность занятости всех каналов;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rgbClr val="000000"/>
                </a:solidFill>
                <a:latin typeface="-webkit-standard"/>
              </a:rPr>
              <a:t>среднее количество занятых каналов;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rgbClr val="000000"/>
                </a:solidFill>
                <a:latin typeface="-webkit-standard"/>
              </a:rPr>
              <a:t>вероятность простоя каждого канала;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rgbClr val="000000"/>
                </a:solidFill>
                <a:latin typeface="-webkit-standard"/>
              </a:rPr>
              <a:t>вероятность простоя всей системы;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rgbClr val="000000"/>
                </a:solidFill>
                <a:latin typeface="-webkit-standard"/>
              </a:rPr>
              <a:t>среднее количество заявок, стоящих в очереди;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rgbClr val="000000"/>
                </a:solidFill>
                <a:latin typeface="-webkit-standard"/>
              </a:rPr>
              <a:t>среднее время ожидания заявки в очереди;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rgbClr val="000000"/>
                </a:solidFill>
                <a:latin typeface="-webkit-standard"/>
              </a:rPr>
              <a:t>среднее время обслуживания заявки;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algn="just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</a:pPr>
            <a:r>
              <a:rPr b="0" lang="ru-RU" sz="1400" spc="-1" strike="noStrike">
                <a:solidFill>
                  <a:srgbClr val="000000"/>
                </a:solidFill>
                <a:latin typeface="-webkit-standard"/>
              </a:rPr>
              <a:t>среднее время нахождения заявки в системе.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Picture 16" descr=""/>
          <p:cNvPicPr/>
          <p:nvPr/>
        </p:nvPicPr>
        <p:blipFill>
          <a:blip r:embed="rId1"/>
          <a:stretch/>
        </p:blipFill>
        <p:spPr>
          <a:xfrm>
            <a:off x="5114160" y="1812240"/>
            <a:ext cx="3675240" cy="271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Объект 1"/>
          <p:cNvSpPr/>
          <p:nvPr/>
        </p:nvSpPr>
        <p:spPr>
          <a:xfrm>
            <a:off x="624240" y="1370520"/>
            <a:ext cx="7489440" cy="378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Bef>
                <a:spcPts val="320"/>
              </a:spcBef>
            </a:pP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Имитационные модели создают для исследования процессов со </a:t>
            </a:r>
            <a:r>
              <a:rPr b="1" lang="ru-RU" sz="1600" spc="-1" strike="noStrike">
                <a:solidFill>
                  <a:schemeClr val="dk1"/>
                </a:solidFill>
                <a:latin typeface="Golos Text"/>
              </a:rPr>
              <a:t>сложной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 зависимостью от некоторых </a:t>
            </a:r>
            <a:r>
              <a:rPr b="1" lang="ru-RU" sz="1600" spc="-1" strike="noStrike">
                <a:solidFill>
                  <a:schemeClr val="dk1"/>
                </a:solidFill>
                <a:latin typeface="Golos Text"/>
              </a:rPr>
              <a:t>случайных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 факторов. В имитационной модели случайные факторы моделируются при помощи специальных </a:t>
            </a:r>
            <a:r>
              <a:rPr b="1" lang="ru-RU" sz="1600" spc="-1" strike="noStrike">
                <a:solidFill>
                  <a:schemeClr val="dk1"/>
                </a:solidFill>
                <a:latin typeface="Golos Text"/>
              </a:rPr>
              <a:t>генераторов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 случайных величин. 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20"/>
              </a:spcBef>
            </a:pP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Для получения характеристик системы имитационная модель </a:t>
            </a:r>
            <a:r>
              <a:rPr b="1" lang="ru-RU" sz="1600" spc="-1" strike="noStrike">
                <a:solidFill>
                  <a:schemeClr val="dk1"/>
                </a:solidFill>
                <a:latin typeface="Golos Text"/>
              </a:rPr>
              <a:t>многократно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 реализуется на компьютере. Полученный ряд значений исследуемого параметра подвергается </a:t>
            </a:r>
            <a:r>
              <a:rPr b="1" lang="ru-RU" sz="1600" spc="-1" strike="noStrike">
                <a:solidFill>
                  <a:schemeClr val="dk1"/>
                </a:solidFill>
                <a:latin typeface="Golos Text"/>
              </a:rPr>
              <a:t>статистической обработке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, в результате которой определяются характеристики случайных показателей процесса - матожидание, дисперсия, закон распределения и т. п. 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20"/>
              </a:spcBef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20"/>
              </a:spcBef>
            </a:pPr>
            <a:r>
              <a:rPr b="1" lang="en-RU" sz="1600" spc="-1" strike="noStrike">
                <a:solidFill>
                  <a:schemeClr val="dk1"/>
                </a:solidFill>
                <a:latin typeface="Golos Text"/>
              </a:rPr>
              <a:t>Моделирование сложных СМО – хорошее применение методов Монте-Карло!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Заголовок 6"/>
          <p:cNvSpPr/>
          <p:nvPr/>
        </p:nvSpPr>
        <p:spPr>
          <a:xfrm>
            <a:off x="457200" y="340200"/>
            <a:ext cx="6822000" cy="58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457200">
              <a:lnSpc>
                <a:spcPct val="90000"/>
              </a:lnSpc>
              <a:spcAft>
                <a:spcPts val="601"/>
              </a:spcAft>
            </a:pPr>
            <a:r>
              <a:rPr b="1" lang="en-US" sz="2700" spc="-1" strike="noStrike">
                <a:solidFill>
                  <a:schemeClr val="lt1"/>
                </a:solidFill>
                <a:latin typeface="Calibri"/>
              </a:rPr>
              <a:t>Сущность имитационного моделирования</a:t>
            </a:r>
            <a:endParaRPr b="0" lang="ru-RU" sz="2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Объект 2"/>
          <p:cNvSpPr/>
          <p:nvPr/>
        </p:nvSpPr>
        <p:spPr>
          <a:xfrm>
            <a:off x="431640" y="1177200"/>
            <a:ext cx="8385840" cy="40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spcBef>
                <a:spcPts val="400"/>
              </a:spcBef>
            </a:pP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Оптимизация — процесс поиска наилучшего решения задачи в </a:t>
            </a:r>
            <a:r>
              <a:rPr b="1" lang="ru-RU" sz="2000" spc="-1" strike="noStrike">
                <a:solidFill>
                  <a:schemeClr val="dk1"/>
                </a:solidFill>
                <a:latin typeface="Arial"/>
              </a:rPr>
              <a:t>рамках заданных ограничений</a:t>
            </a:r>
            <a:r>
              <a:rPr b="0" lang="ru-RU" sz="2000" spc="-1" strike="noStrike">
                <a:solidFill>
                  <a:schemeClr val="dk1"/>
                </a:solidFill>
                <a:latin typeface="Arial"/>
              </a:rPr>
              <a:t>. </a:t>
            </a:r>
            <a:r>
              <a:rPr b="0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 </a:t>
            </a:r>
            <a:br>
              <a:rPr sz="2000"/>
            </a:br>
            <a:r>
              <a:rPr b="0" lang="ru-RU" sz="2000" spc="-1" strike="noStrike">
                <a:solidFill>
                  <a:srgbClr val="000000"/>
                </a:solidFill>
                <a:latin typeface="Arial"/>
                <a:ea typeface="Noto Sans CJK SC"/>
              </a:rPr>
              <a:t> 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Локальная оптимизация</a:t>
            </a: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 — поиск наилучшего решения в окрестности начального приближения.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Используется, когда целевая функция имеет несколько локальных экстремумов, и </a:t>
            </a:r>
            <a:r>
              <a:rPr b="1" lang="ru-RU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достаточно</a:t>
            </a:r>
            <a:r>
              <a:rPr b="0" lang="ru-RU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 найти один из них.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Градиентный спуск, метод Ньютона.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343080" indent="-343080"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1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Глобальная оптимизация — </a:t>
            </a:r>
            <a:r>
              <a:rPr b="0" lang="ru-RU" sz="1500" spc="-1" strike="noStrike">
                <a:solidFill>
                  <a:schemeClr val="dk1"/>
                </a:solidFill>
                <a:latin typeface="Arial"/>
                <a:ea typeface="Noto Sans CJK SC"/>
              </a:rPr>
              <a:t>поиск наилучшего решения на всей области определения целевой функции.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Используется, когда целевая функция имеет множество локальных экстремумов, и необходимо найти </a:t>
            </a:r>
            <a:r>
              <a:rPr b="1" lang="ru-RU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наилучший </a:t>
            </a:r>
            <a:r>
              <a:rPr b="0" lang="ru-RU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из них.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chemeClr val="dk1"/>
                </a:solidFill>
                <a:latin typeface="Arial"/>
                <a:ea typeface="Noto Sans CJK SC"/>
              </a:rPr>
              <a:t>Генетические алгоритмы, метод Монте-Карло, имитация отжига.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6"/>
          <p:cNvSpPr txBox="1"/>
          <p:nvPr/>
        </p:nvSpPr>
        <p:spPr>
          <a:xfrm>
            <a:off x="457200" y="34056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RU" sz="3200" spc="-1" strike="noStrike">
                <a:solidFill>
                  <a:schemeClr val="dk1"/>
                </a:solidFill>
                <a:latin typeface="Golos Text DemiBold"/>
              </a:rPr>
              <a:t>Оптимизация СМО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Объект 3"/>
          <p:cNvSpPr/>
          <p:nvPr/>
        </p:nvSpPr>
        <p:spPr>
          <a:xfrm>
            <a:off x="431640" y="1177200"/>
            <a:ext cx="8385840" cy="407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spcBef>
                <a:spcPts val="400"/>
              </a:spcBef>
            </a:pPr>
            <a:r>
              <a:rPr b="1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Линейная оптимизация</a:t>
            </a:r>
            <a:r>
              <a:rPr b="0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 — целевая функция и ограничения являются линейными функциями переменных.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400"/>
              </a:spcBef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400"/>
              </a:spcBef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Симплекс-метод, метод внутренних точек.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400"/>
              </a:spcBef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400"/>
              </a:spcBef>
            </a:pPr>
            <a:r>
              <a:rPr b="1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Глобальная нелинейная оптимизация — </a:t>
            </a:r>
            <a:r>
              <a:rPr b="0" lang="ru-RU" sz="2000" spc="-1" strike="noStrike">
                <a:solidFill>
                  <a:schemeClr val="dk1"/>
                </a:solidFill>
                <a:latin typeface="Arial"/>
                <a:ea typeface="Noto Sans CJK SC"/>
              </a:rPr>
              <a:t>целевая функция или ограничения являются нелинейными функциями переменных.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400"/>
              </a:spcBef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400"/>
              </a:spcBef>
            </a:pP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lvl="1" marL="432000" indent="-216000">
              <a:lnSpc>
                <a:spcPct val="115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  <a:ea typeface="Noto Sans CJK SC"/>
              </a:rPr>
              <a:t>Градиентный спуск, метод Ньютона, генетические алгоритмы.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8" name="" descr=""/>
          <p:cNvPicPr/>
          <p:nvPr/>
        </p:nvPicPr>
        <p:blipFill>
          <a:blip r:embed="rId1"/>
          <a:stretch/>
        </p:blipFill>
        <p:spPr>
          <a:xfrm>
            <a:off x="830880" y="2010960"/>
            <a:ext cx="5289120" cy="689040"/>
          </a:xfrm>
          <a:prstGeom prst="rect">
            <a:avLst/>
          </a:prstGeom>
          <a:ln w="0">
            <a:noFill/>
          </a:ln>
        </p:spPr>
      </p:pic>
      <p:pic>
        <p:nvPicPr>
          <p:cNvPr id="109" name="" descr=""/>
          <p:cNvPicPr/>
          <p:nvPr/>
        </p:nvPicPr>
        <p:blipFill>
          <a:blip r:embed="rId2"/>
          <a:stretch/>
        </p:blipFill>
        <p:spPr>
          <a:xfrm>
            <a:off x="868680" y="4187880"/>
            <a:ext cx="5890320" cy="708120"/>
          </a:xfrm>
          <a:prstGeom prst="rect">
            <a:avLst/>
          </a:prstGeom>
          <a:ln w="0">
            <a:noFill/>
          </a:ln>
        </p:spPr>
      </p:pic>
      <p:sp>
        <p:nvSpPr>
          <p:cNvPr id="110" name="PlaceHolder 7"/>
          <p:cNvSpPr txBox="1"/>
          <p:nvPr/>
        </p:nvSpPr>
        <p:spPr>
          <a:xfrm>
            <a:off x="457200" y="34092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RU" sz="3200" spc="-1" strike="noStrike">
                <a:solidFill>
                  <a:schemeClr val="dk1"/>
                </a:solidFill>
                <a:latin typeface="Golos Text DemiBold"/>
              </a:rPr>
              <a:t>Оптимизация СМО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"/>
          <p:cNvSpPr/>
          <p:nvPr/>
        </p:nvSpPr>
        <p:spPr>
          <a:xfrm>
            <a:off x="696960" y="1179720"/>
            <a:ext cx="7725600" cy="39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from </a:t>
            </a:r>
            <a:r>
              <a:rPr b="1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scipy.optimize import minimize</a:t>
            </a:r>
            <a:endParaRPr b="0" lang="ru-RU" sz="9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100000"/>
              </a:lnSpc>
            </a:pPr>
            <a:endParaRPr b="0" lang="ru-RU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# Определение функции</a:t>
            </a:r>
            <a:endParaRPr b="0" lang="ru-RU" sz="9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def f(x):</a:t>
            </a:r>
            <a:endParaRPr b="0" lang="ru-RU" sz="9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    </a:t>
            </a: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return x**2 + 3*x + 4  # Функция одной переменной</a:t>
            </a:r>
            <a:endParaRPr b="0" lang="ru-RU" sz="9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100000"/>
              </a:lnSpc>
            </a:pPr>
            <a:endParaRPr b="0" lang="ru-RU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100000"/>
              </a:lnSpc>
            </a:pPr>
            <a:r>
              <a:rPr b="1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# Начальное предположение</a:t>
            </a:r>
            <a:endParaRPr b="0" lang="ru-RU" sz="9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X0 = 0</a:t>
            </a:r>
            <a:endParaRPr b="0" lang="ru-RU" sz="9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100000"/>
              </a:lnSpc>
            </a:pPr>
            <a:endParaRPr b="0" lang="ru-RU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# Минимизация</a:t>
            </a:r>
            <a:endParaRPr b="0" lang="ru-RU" sz="9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result = </a:t>
            </a:r>
            <a:r>
              <a:rPr b="1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minimize(f, x0)</a:t>
            </a:r>
            <a:endParaRPr b="0" lang="ru-RU" sz="9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100000"/>
              </a:lnSpc>
            </a:pPr>
            <a:endParaRPr b="0" lang="ru-RU" sz="14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# Определение функции</a:t>
            </a:r>
            <a:endParaRPr b="0" lang="ru-RU" sz="9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def f(params):</a:t>
            </a:r>
            <a:endParaRPr b="0" lang="ru-RU" sz="9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    </a:t>
            </a: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x, y = params</a:t>
            </a:r>
            <a:endParaRPr b="0" lang="ru-RU" sz="9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    </a:t>
            </a: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return (x - 1)**2 + (y — 2)**2 # Функция двух переменных</a:t>
            </a:r>
            <a:endParaRPr b="0" lang="ru-RU" sz="9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100000"/>
              </a:lnSpc>
            </a:pPr>
            <a:endParaRPr b="0" lang="ru-RU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100000"/>
              </a:lnSpc>
            </a:pPr>
            <a:r>
              <a:rPr b="1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# Начальное предположение</a:t>
            </a:r>
            <a:endParaRPr b="0" lang="ru-RU" sz="9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x0 = [0, 0]</a:t>
            </a:r>
            <a:endParaRPr b="0" lang="ru-RU" sz="9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100000"/>
              </a:lnSpc>
            </a:pPr>
            <a:endParaRPr b="0" lang="ru-RU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# Минимизация</a:t>
            </a:r>
            <a:endParaRPr b="0" lang="ru-RU" sz="9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result = </a:t>
            </a:r>
            <a:r>
              <a:rPr b="1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minimize(f, x0)</a:t>
            </a:r>
            <a:endParaRPr b="0" lang="ru-RU" sz="9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100000"/>
              </a:lnSpc>
            </a:pPr>
            <a:endParaRPr b="0" lang="ru-RU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100000"/>
              </a:lnSpc>
            </a:pPr>
            <a:r>
              <a:rPr b="1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# Ограничение</a:t>
            </a:r>
            <a:endParaRPr b="0" lang="ru-RU" sz="9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100000"/>
              </a:lnSpc>
            </a:pPr>
            <a:r>
              <a:rPr b="1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constraint = {'type': 'eq', 'fun': lambda params: params[0] + params[1] - 3}</a:t>
            </a:r>
            <a:endParaRPr b="0" lang="ru-RU" sz="9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100000"/>
              </a:lnSpc>
            </a:pPr>
            <a:endParaRPr b="0" lang="ru-RU" sz="10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# Минимизация с ограничением</a:t>
            </a:r>
            <a:endParaRPr b="0" lang="ru-RU" sz="900" spc="-1" strike="noStrike">
              <a:solidFill>
                <a:srgbClr val="000000"/>
              </a:solidFill>
              <a:latin typeface="Arial"/>
              <a:ea typeface="Noto Sans CJK SC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result = minimize(f, x0, </a:t>
            </a:r>
            <a:r>
              <a:rPr b="1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constraints=constraint)</a:t>
            </a:r>
            <a:endParaRPr b="0" lang="ru-RU" sz="900" spc="-1" strike="noStrike">
              <a:solidFill>
                <a:srgbClr val="000000"/>
              </a:solidFill>
              <a:latin typeface="Arial"/>
              <a:ea typeface="Noto Sans CJK SC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4749120" y="1735560"/>
            <a:ext cx="1550880" cy="244440"/>
          </a:xfrm>
          <a:prstGeom prst="rect">
            <a:avLst/>
          </a:prstGeom>
          <a:ln w="0">
            <a:noFill/>
          </a:ln>
        </p:spPr>
      </p:pic>
      <p:pic>
        <p:nvPicPr>
          <p:cNvPr id="113" name="" descr=""/>
          <p:cNvPicPr/>
          <p:nvPr/>
        </p:nvPicPr>
        <p:blipFill>
          <a:blip r:embed="rId2"/>
          <a:stretch/>
        </p:blipFill>
        <p:spPr>
          <a:xfrm>
            <a:off x="5040000" y="3363120"/>
            <a:ext cx="2322360" cy="236880"/>
          </a:xfrm>
          <a:prstGeom prst="rect">
            <a:avLst/>
          </a:prstGeom>
          <a:ln w="0">
            <a:noFill/>
          </a:ln>
        </p:spPr>
      </p:pic>
      <p:pic>
        <p:nvPicPr>
          <p:cNvPr id="114" name="" descr=""/>
          <p:cNvPicPr/>
          <p:nvPr/>
        </p:nvPicPr>
        <p:blipFill>
          <a:blip r:embed="rId3"/>
          <a:stretch/>
        </p:blipFill>
        <p:spPr>
          <a:xfrm>
            <a:off x="6364440" y="4639320"/>
            <a:ext cx="331560" cy="236880"/>
          </a:xfrm>
          <a:prstGeom prst="rect">
            <a:avLst/>
          </a:prstGeom>
          <a:ln w="0">
            <a:noFill/>
          </a:ln>
        </p:spPr>
      </p:pic>
      <p:pic>
        <p:nvPicPr>
          <p:cNvPr id="115" name="" descr=""/>
          <p:cNvPicPr/>
          <p:nvPr/>
        </p:nvPicPr>
        <p:blipFill>
          <a:blip r:embed="rId4"/>
          <a:stretch/>
        </p:blipFill>
        <p:spPr>
          <a:xfrm>
            <a:off x="6646320" y="4636800"/>
            <a:ext cx="531720" cy="220680"/>
          </a:xfrm>
          <a:prstGeom prst="rect">
            <a:avLst/>
          </a:prstGeom>
          <a:ln w="0">
            <a:noFill/>
          </a:ln>
        </p:spPr>
      </p:pic>
      <p:sp>
        <p:nvSpPr>
          <p:cNvPr id="116" name="PlaceHolder 8"/>
          <p:cNvSpPr txBox="1"/>
          <p:nvPr/>
        </p:nvSpPr>
        <p:spPr>
          <a:xfrm>
            <a:off x="457200" y="34092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RU" sz="3200" spc="-1" strike="noStrike">
                <a:solidFill>
                  <a:schemeClr val="dk1"/>
                </a:solidFill>
                <a:latin typeface="Golos Text DemiBold"/>
              </a:rPr>
              <a:t>Минимизация на Python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>
            <a:off x="761400" y="1453680"/>
            <a:ext cx="7725600" cy="39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Г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л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о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б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а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л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ь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н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а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я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о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п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т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и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м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и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з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а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ц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и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я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f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r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m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s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c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i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p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y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.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p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t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i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m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i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z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e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i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m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p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r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t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b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a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s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i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n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h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p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p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i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n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g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#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О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п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р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е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д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е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л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е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н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и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е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ф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у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н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к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ц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и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и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d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e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f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f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(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x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)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: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r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e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t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u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r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n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x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*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*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2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+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1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0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*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n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p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.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s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i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n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(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x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)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#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Н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а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ч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а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л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ь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н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о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е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п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р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е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д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п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о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л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о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ж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е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н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и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е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x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0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=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0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#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Г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л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о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б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а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л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ь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н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а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я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м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и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н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и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м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и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з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а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ц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и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я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r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e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s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u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l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t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=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b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a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s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i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n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h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p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p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i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n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g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(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f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,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x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0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)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9"/>
          <p:cNvSpPr txBox="1"/>
          <p:nvPr/>
        </p:nvSpPr>
        <p:spPr>
          <a:xfrm>
            <a:off x="457200" y="34128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RU" sz="3200" spc="-1" strike="noStrike">
                <a:solidFill>
                  <a:schemeClr val="dk1"/>
                </a:solidFill>
                <a:latin typeface="Golos Text DemiBold"/>
              </a:rPr>
              <a:t>Минимизация на Python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PlaceHolder 10"/>
          <p:cNvSpPr txBox="1"/>
          <p:nvPr/>
        </p:nvSpPr>
        <p:spPr>
          <a:xfrm>
            <a:off x="457200" y="34128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RU" sz="3200" spc="-1" strike="noStrike">
                <a:solidFill>
                  <a:schemeClr val="dk1"/>
                </a:solidFill>
                <a:latin typeface="Golos Text DemiBold"/>
              </a:rPr>
              <a:t>Минимизация на Python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4500000" y="1980000"/>
            <a:ext cx="3780000" cy="39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Courier New"/>
              </a:rPr>
              <a:t>Г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Courier New"/>
              </a:rPr>
              <a:t>р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Courier New"/>
              </a:rPr>
              <a:t>а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Courier New"/>
              </a:rPr>
              <a:t>д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Courier New"/>
              </a:rPr>
              <a:t>и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Courier New"/>
              </a:rPr>
              <a:t>е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Courier New"/>
              </a:rPr>
              <a:t>н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Courier New"/>
              </a:rPr>
              <a:t>т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Courier New"/>
              </a:rPr>
              <a:t>н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Courier New"/>
              </a:rPr>
              <a:t>ы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Courier New"/>
              </a:rPr>
              <a:t>й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Courier New"/>
              </a:rPr>
              <a:t> 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Courier New"/>
              </a:rPr>
              <a:t>с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Courier New"/>
              </a:rPr>
              <a:t>п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Courier New"/>
              </a:rPr>
              <a:t>у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Courier New"/>
              </a:rPr>
              <a:t>с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Courier New"/>
              </a:rPr>
              <a:t>к</a:t>
            </a:r>
            <a:r>
              <a:rPr b="1" lang="ru-RU" sz="1800" spc="-1" strike="noStrike">
                <a:solidFill>
                  <a:srgbClr val="000000"/>
                </a:solidFill>
                <a:latin typeface="Arial"/>
                <a:ea typeface="Courier New"/>
              </a:rPr>
              <a:t>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f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r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m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s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c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i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p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y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.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p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t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i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m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i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z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e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i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m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p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o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r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t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m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i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n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i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m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i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z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e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#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О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п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р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е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д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е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л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е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н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и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е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ф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у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н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к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ц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и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и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и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г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р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а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д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и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е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н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т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а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d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e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f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f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(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p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a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r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a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m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s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)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: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x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,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y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=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p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a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r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a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m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s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r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e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t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u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r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n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(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x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-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1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)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*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*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2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+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(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y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-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2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)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*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*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2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d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e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f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g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r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a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d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_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f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(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p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a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r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a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m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s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)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: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x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,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y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=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p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a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r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a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m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s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r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e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t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u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r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n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n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p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.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a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r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r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a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y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(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[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2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*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(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x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-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1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)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,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2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*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(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y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—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2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)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]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)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#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Н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а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ч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а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л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ь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н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о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е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п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р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е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д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п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о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л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о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ж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е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н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и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е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x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0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=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[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0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,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0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]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#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М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и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н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и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м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и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з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а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ц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и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я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с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и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с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п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о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л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ь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з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о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в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а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н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и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е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м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г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р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а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д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и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е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н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т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а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</a:pP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r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e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s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u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l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t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=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m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i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n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i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m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i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z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e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(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f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,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x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0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,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j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a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c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=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g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r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a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d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_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f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)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"/>
          <p:cNvSpPr/>
          <p:nvPr/>
        </p:nvSpPr>
        <p:spPr>
          <a:xfrm>
            <a:off x="720000" y="1117800"/>
            <a:ext cx="7725600" cy="39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ru-RU" sz="1500" spc="-1" strike="noStrike">
                <a:solidFill>
                  <a:srgbClr val="000000"/>
                </a:solidFill>
                <a:latin typeface="Arial"/>
              </a:rPr>
              <a:t>Минимизация по МНК</a:t>
            </a:r>
            <a:endParaRPr b="0" lang="ru-RU" sz="1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  <a:ea typeface="Courier New"/>
              </a:rPr>
              <a:t>import numpy as np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800" spc="-1" strike="noStrike">
                <a:solidFill>
                  <a:srgbClr val="000000"/>
                </a:solidFill>
                <a:latin typeface="Courier New"/>
                <a:ea typeface="Courier New"/>
              </a:rPr>
              <a:t>from scipy.optimize import least_squares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  <a:ea typeface="Courier New"/>
              </a:rPr>
              <a:t>import matplotlib.pyplot as plt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  <a:ea typeface="Courier New"/>
              </a:rPr>
              <a:t># Определение модели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  <a:ea typeface="Courier New"/>
              </a:rPr>
              <a:t>def model(params, x):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  <a:ea typeface="Courier New"/>
              </a:rPr>
              <a:t>    </a:t>
            </a:r>
            <a:r>
              <a:rPr b="0" lang="ru-RU" sz="800" spc="-1" strike="noStrike">
                <a:solidFill>
                  <a:srgbClr val="000000"/>
                </a:solidFill>
                <a:latin typeface="Courier New"/>
                <a:ea typeface="Courier New"/>
              </a:rPr>
              <a:t>a, b, c = params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  <a:ea typeface="Courier New"/>
              </a:rPr>
              <a:t>    </a:t>
            </a:r>
            <a:r>
              <a:rPr b="0" lang="ru-RU" sz="800" spc="-1" strike="noStrike">
                <a:solidFill>
                  <a:srgbClr val="000000"/>
                </a:solidFill>
                <a:latin typeface="Courier New"/>
                <a:ea typeface="Courier New"/>
              </a:rPr>
              <a:t>return a * np.sin(b * x) + c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  <a:ea typeface="Courier New"/>
              </a:rPr>
              <a:t># Определение функции ошибки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  <a:ea typeface="Courier New"/>
              </a:rPr>
              <a:t>def error(params, x, y):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  <a:ea typeface="Courier New"/>
              </a:rPr>
              <a:t>    </a:t>
            </a:r>
            <a:r>
              <a:rPr b="0" lang="ru-RU" sz="800" spc="-1" strike="noStrike">
                <a:solidFill>
                  <a:srgbClr val="000000"/>
                </a:solidFill>
                <a:latin typeface="Courier New"/>
                <a:ea typeface="Courier New"/>
              </a:rPr>
              <a:t>return model(params, x) - y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  <a:ea typeface="Courier New"/>
              </a:rPr>
              <a:t># Генерация данных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  <a:ea typeface="Courier New"/>
              </a:rPr>
              <a:t>x_data = np.linspace(0, 10, 100)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  <a:ea typeface="Courier New"/>
              </a:rPr>
              <a:t>y_data = 2 * np.sin(1.5 * x_data) + 3 + np.random.normal(0, 0.5, 100)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  <a:ea typeface="Courier New"/>
              </a:rPr>
              <a:t># Начальное предположение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  <a:ea typeface="Courier New"/>
              </a:rPr>
              <a:t>x0 = [1, 1, 1]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  <a:ea typeface="Courier New"/>
              </a:rPr>
              <a:t># Подбор параметров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  <a:ea typeface="Courier New"/>
              </a:rPr>
              <a:t>result = </a:t>
            </a:r>
            <a:r>
              <a:rPr b="1" lang="ru-RU" sz="800" spc="-1" strike="noStrike">
                <a:solidFill>
                  <a:srgbClr val="000000"/>
                </a:solidFill>
                <a:latin typeface="Courier New"/>
                <a:ea typeface="Courier New"/>
              </a:rPr>
              <a:t>least_squares(error, x0, args=(x_data, y_data))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  <a:ea typeface="Courier New"/>
              </a:rPr>
              <a:t># Визуализация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  <a:ea typeface="Courier New"/>
              </a:rPr>
              <a:t>plt.scatter(x_data, y_data, label='Данные')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  <a:ea typeface="Courier New"/>
              </a:rPr>
              <a:t>plt.plot(x_data, model(result.x, x_data), color='red', label='Модель')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  <a:ea typeface="Courier New"/>
              </a:rPr>
              <a:t>plt.legend()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800" spc="-1" strike="noStrike">
                <a:solidFill>
                  <a:srgbClr val="000000"/>
                </a:solidFill>
                <a:latin typeface="Courier New"/>
                <a:ea typeface="Courier New"/>
              </a:rPr>
              <a:t>plt.show()</a:t>
            </a:r>
            <a:endParaRPr b="0" lang="ru-RU" sz="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11"/>
          <p:cNvSpPr txBox="1"/>
          <p:nvPr/>
        </p:nvSpPr>
        <p:spPr>
          <a:xfrm>
            <a:off x="457200" y="34164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RU" sz="3200" spc="-1" strike="noStrike">
                <a:solidFill>
                  <a:schemeClr val="dk1"/>
                </a:solidFill>
                <a:latin typeface="Golos Text DemiBold"/>
              </a:rPr>
              <a:t>Минимизация на Python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"/>
          <p:cNvSpPr/>
          <p:nvPr/>
        </p:nvSpPr>
        <p:spPr>
          <a:xfrm>
            <a:off x="720000" y="1117800"/>
            <a:ext cx="7725600" cy="39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ru-RU" sz="1600" spc="-1" strike="noStrike">
                <a:solidFill>
                  <a:srgbClr val="000000"/>
                </a:solidFill>
                <a:latin typeface="Arial"/>
                <a:ea typeface="Courier New"/>
              </a:rPr>
              <a:t>Имитация отжига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import math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import random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def simulated_annealing(f, x0, T0, alpha, max_iter):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    </a:t>
            </a: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x = x0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    </a:t>
            </a: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T = T0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    </a:t>
            </a: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for i in range(max_iter):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        </a:t>
            </a:r>
            <a:r>
              <a:rPr b="1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x_new = x + random.uniform(-1, 1)  # Генерация нового решения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        </a:t>
            </a: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delta_E = f(x_new) - f(x)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        </a:t>
            </a: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if delta_E &lt; 0 or random.random() &lt; math.exp(-delta_E / T):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            </a:t>
            </a: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x = x_new  # Принятие нового решения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        </a:t>
            </a: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T *= alpha  # Охлаждение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    </a:t>
            </a: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return x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# Пример целевой функции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def f(x):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    </a:t>
            </a: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return x**2 + 3 * x + 4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# Запуск алгоритма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x0 = 10  # Начальное решение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T0 = 100  # Начальная температура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alpha = 0.95  # Коэффициент охлаждения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max_iter = 1000  # Максимальное число итераций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result = </a:t>
            </a:r>
            <a:r>
              <a:rPr b="1" lang="ru-RU" sz="900" spc="-1" strike="noStrike">
                <a:solidFill>
                  <a:srgbClr val="000000"/>
                </a:solidFill>
                <a:latin typeface="Courier New"/>
                <a:ea typeface="Courier New"/>
              </a:rPr>
              <a:t>simulated_annealing(f, x0, T0, alpha, max_iter)</a:t>
            </a:r>
            <a:endParaRPr b="0" lang="ru-RU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12"/>
          <p:cNvSpPr txBox="1"/>
          <p:nvPr/>
        </p:nvSpPr>
        <p:spPr>
          <a:xfrm>
            <a:off x="457200" y="34200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RU" sz="3200" spc="-1" strike="noStrike">
                <a:solidFill>
                  <a:schemeClr val="dk1"/>
                </a:solidFill>
                <a:latin typeface="Golos Text DemiBold"/>
              </a:rPr>
              <a:t>Оптимизация на Python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>
            <a:off x="696960" y="1292040"/>
            <a:ext cx="7725600" cy="395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15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ru-RU" sz="1800" spc="-1" strike="noStrike">
                <a:solidFill>
                  <a:srgbClr val="000000"/>
                </a:solidFill>
                <a:latin typeface="Arial"/>
              </a:rPr>
              <a:t>Поиск полиномиальной аппроксимации.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import numpy as np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from scipy.optimize import curve_fit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import matplotlib.pyplot as plt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# Определение линейной модели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def linear_model(x, a, b):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    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return a * x + b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# Генерация данных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x_data = np.linspace(0, 10, 100)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y_data = 2 * x_data + 3 + np.random.normal(0, 1, 100)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# Подбор параметров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params, _ = 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curve_fit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(linear_model, x_data, </a:t>
            </a:r>
            <a:r>
              <a:rPr b="1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y_data</a:t>
            </a: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)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# Визуализация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plt.scatter(x_data, y_data, label='Данные')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plt.plot(x_data, linear_model(x_data, *params), color='red', label='Модель')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plt.legend()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ru-RU" sz="1000" spc="-1" strike="noStrike">
                <a:solidFill>
                  <a:srgbClr val="000000"/>
                </a:solidFill>
                <a:latin typeface="Courier New"/>
                <a:ea typeface="Courier New"/>
              </a:rPr>
              <a:t>plt.show()</a:t>
            </a:r>
            <a:endParaRPr b="0" lang="ru-RU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13"/>
          <p:cNvSpPr txBox="1"/>
          <p:nvPr/>
        </p:nvSpPr>
        <p:spPr>
          <a:xfrm>
            <a:off x="457200" y="34236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RU" sz="3200" spc="-1" strike="noStrike">
                <a:solidFill>
                  <a:schemeClr val="dk1"/>
                </a:solidFill>
                <a:latin typeface="Golos Text DemiBold"/>
              </a:rPr>
              <a:t>Оптимизация на Python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/>
          </p:nvPr>
        </p:nvSpPr>
        <p:spPr>
          <a:xfrm>
            <a:off x="540000" y="1270080"/>
            <a:ext cx="8227440" cy="37699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95280" indent="-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2100" spc="-1" strike="noStrike">
                <a:solidFill>
                  <a:schemeClr val="dk1"/>
                </a:solidFill>
                <a:latin typeface="Arial"/>
              </a:rPr>
              <a:t>В зависимости от специфики моделируемой СМО и </a:t>
            </a:r>
            <a:r>
              <a:rPr b="1" lang="ru-RU" sz="2100" spc="-1" strike="noStrike">
                <a:solidFill>
                  <a:schemeClr val="dk1"/>
                </a:solidFill>
                <a:latin typeface="Arial"/>
              </a:rPr>
              <a:t>её назначения</a:t>
            </a:r>
            <a:r>
              <a:rPr b="0" lang="ru-RU" sz="2100" spc="-1" strike="noStrike">
                <a:solidFill>
                  <a:schemeClr val="dk1"/>
                </a:solidFill>
                <a:latin typeface="Arial"/>
              </a:rPr>
              <a:t> необходимо подобрать релевантную целевую функцию.  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2100" spc="-1" strike="noStrike">
                <a:solidFill>
                  <a:schemeClr val="dk1"/>
                </a:solidFill>
                <a:latin typeface="Arial"/>
              </a:rPr>
              <a:t>Целевая функция измеряется при предварительных прогонах модели, когда меняются управляемые факторы.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ru-RU" sz="2100" spc="-1" strike="noStrike">
                <a:solidFill>
                  <a:schemeClr val="dk1"/>
                </a:solidFill>
                <a:latin typeface="Arial"/>
              </a:rPr>
              <a:t>Каждый прогон представляет собой реализацию случайного процесса, поэтому оценивается также «стоимость» и «значимость»: </a:t>
            </a:r>
            <a:r>
              <a:rPr b="1" lang="ru-RU" sz="2100" spc="-1" strike="noStrike">
                <a:solidFill>
                  <a:schemeClr val="dk1"/>
                </a:solidFill>
                <a:latin typeface="Arial"/>
              </a:rPr>
              <a:t>количество прогонов</a:t>
            </a:r>
            <a:r>
              <a:rPr b="0" lang="ru-RU" sz="2100" spc="-1" strike="noStrike">
                <a:solidFill>
                  <a:schemeClr val="dk1"/>
                </a:solidFill>
                <a:latin typeface="Arial"/>
              </a:rPr>
              <a:t> и </a:t>
            </a:r>
            <a:r>
              <a:rPr b="1" lang="ru-RU" sz="2100" spc="-1" strike="noStrike">
                <a:solidFill>
                  <a:schemeClr val="dk1"/>
                </a:solidFill>
                <a:latin typeface="Arial"/>
              </a:rPr>
              <a:t>длительность моделирования</a:t>
            </a:r>
            <a:r>
              <a:rPr b="0" lang="ru-RU" sz="2100" spc="-1" strike="noStrike">
                <a:solidFill>
                  <a:schemeClr val="dk1"/>
                </a:solidFill>
                <a:latin typeface="Arial"/>
              </a:rPr>
              <a:t>, для достижения статистически значимой оценки.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PlaceHolder 14"/>
          <p:cNvSpPr txBox="1"/>
          <p:nvPr/>
        </p:nvSpPr>
        <p:spPr>
          <a:xfrm>
            <a:off x="457200" y="34272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RU" sz="3200" spc="-1" strike="noStrike">
                <a:solidFill>
                  <a:schemeClr val="dk1"/>
                </a:solidFill>
                <a:latin typeface="Golos Text DemiBold"/>
              </a:rPr>
              <a:t>Целевые функции СМО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7"/>
          <p:cNvSpPr/>
          <p:nvPr/>
        </p:nvSpPr>
        <p:spPr>
          <a:xfrm>
            <a:off x="540360" y="1329840"/>
            <a:ext cx="8227440" cy="37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marL="395280" indent="-4572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tabLst>
                <a:tab algn="l" pos="0"/>
              </a:tabLst>
            </a:pPr>
            <a:r>
              <a:rPr b="1" lang="ru-RU" sz="2100" spc="-1" strike="noStrike">
                <a:solidFill>
                  <a:schemeClr val="dk1"/>
                </a:solidFill>
                <a:latin typeface="Arial"/>
              </a:rPr>
              <a:t>Управляемые факторы: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2100" spc="-1" strike="noStrike">
                <a:solidFill>
                  <a:schemeClr val="dk1"/>
                </a:solidFill>
                <a:latin typeface="Arial"/>
              </a:rPr>
              <a:t>Количество каналов N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2100" spc="-1" strike="noStrike">
                <a:solidFill>
                  <a:schemeClr val="dk1"/>
                </a:solidFill>
                <a:latin typeface="Arial"/>
              </a:rPr>
              <a:t>Интенсивность обслуживания μ (скорость работы)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2100" spc="-1" strike="noStrike">
                <a:solidFill>
                  <a:schemeClr val="dk1"/>
                </a:solidFill>
                <a:latin typeface="Arial"/>
              </a:rPr>
              <a:t>Дисциплина очереди (FIFO, приоритеты, длина)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1757"/>
              </a:spcBef>
              <a:spcAft>
                <a:spcPts val="283"/>
              </a:spcAft>
              <a:tabLst>
                <a:tab algn="l" pos="0"/>
              </a:tabLst>
            </a:pPr>
            <a:r>
              <a:rPr b="1" lang="ru-RU" sz="2100" spc="-1" strike="noStrike">
                <a:solidFill>
                  <a:schemeClr val="dk1"/>
                </a:solidFill>
                <a:latin typeface="Arial"/>
              </a:rPr>
              <a:t>Ограничения: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2100" spc="-1" strike="noStrike">
                <a:solidFill>
                  <a:schemeClr val="dk1"/>
                </a:solidFill>
                <a:latin typeface="Arial"/>
              </a:rPr>
              <a:t>Допустимая доля отказов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2100" spc="-1" strike="noStrike">
                <a:solidFill>
                  <a:schemeClr val="dk1"/>
                </a:solidFill>
                <a:latin typeface="Arial"/>
              </a:rPr>
              <a:t>Бюджет на каналы / число каналов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2100" spc="-1" strike="noStrike">
                <a:solidFill>
                  <a:schemeClr val="dk1"/>
                </a:solidFill>
                <a:latin typeface="Arial"/>
              </a:rPr>
              <a:t>Время ожидания (норма или стандарт)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PlaceHolder 16"/>
          <p:cNvSpPr txBox="1"/>
          <p:nvPr/>
        </p:nvSpPr>
        <p:spPr>
          <a:xfrm>
            <a:off x="457200" y="34308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RU" sz="3200" spc="-1" strike="noStrike">
                <a:solidFill>
                  <a:schemeClr val="dk1"/>
                </a:solidFill>
                <a:latin typeface="Golos Text DemiBold"/>
              </a:rPr>
              <a:t>Колл-центры, стойки сервиса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9"/>
          <p:cNvSpPr/>
          <p:nvPr/>
        </p:nvSpPr>
        <p:spPr>
          <a:xfrm>
            <a:off x="412200" y="1329840"/>
            <a:ext cx="8227440" cy="37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marL="395280" indent="-4572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tabLst>
                <a:tab algn="l" pos="0"/>
              </a:tabLst>
            </a:pPr>
            <a:r>
              <a:rPr b="1" lang="ru-RU" sz="2100" spc="-1" strike="noStrike">
                <a:solidFill>
                  <a:schemeClr val="dk1"/>
                </a:solidFill>
                <a:latin typeface="Arial"/>
              </a:rPr>
              <a:t>ЦФ: Минимизация стоимости при заданном качестве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tabLst>
                <a:tab algn="l" pos="0"/>
              </a:tabLst>
            </a:pPr>
            <a:r>
              <a:rPr b="1" lang="ru-RU" sz="2100" spc="-1" strike="noStrike">
                <a:solidFill>
                  <a:schemeClr val="dk1"/>
                </a:solidFill>
                <a:latin typeface="Arial"/>
                <a:ea typeface="Noto Sans CJK SC"/>
              </a:rPr>
              <a:t>ЦФ: Максимизация прибыли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2" name="" descr=""/>
          <p:cNvPicPr/>
          <p:nvPr/>
        </p:nvPicPr>
        <p:blipFill>
          <a:blip r:embed="rId1"/>
          <a:stretch/>
        </p:blipFill>
        <p:spPr>
          <a:xfrm>
            <a:off x="900000" y="2216520"/>
            <a:ext cx="2840760" cy="452880"/>
          </a:xfrm>
          <a:prstGeom prst="rect">
            <a:avLst/>
          </a:prstGeom>
          <a:ln w="0">
            <a:noFill/>
          </a:ln>
        </p:spPr>
      </p:pic>
      <p:pic>
        <p:nvPicPr>
          <p:cNvPr id="133" name="" descr=""/>
          <p:cNvPicPr/>
          <p:nvPr/>
        </p:nvPicPr>
        <p:blipFill>
          <a:blip r:embed="rId2"/>
          <a:stretch/>
        </p:blipFill>
        <p:spPr>
          <a:xfrm>
            <a:off x="4718160" y="1800000"/>
            <a:ext cx="3417480" cy="1349640"/>
          </a:xfrm>
          <a:prstGeom prst="rect">
            <a:avLst/>
          </a:prstGeom>
          <a:ln w="0">
            <a:noFill/>
          </a:ln>
        </p:spPr>
      </p:pic>
      <p:pic>
        <p:nvPicPr>
          <p:cNvPr id="134" name="" descr=""/>
          <p:cNvPicPr/>
          <p:nvPr/>
        </p:nvPicPr>
        <p:blipFill>
          <a:blip r:embed="rId3"/>
          <a:stretch/>
        </p:blipFill>
        <p:spPr>
          <a:xfrm>
            <a:off x="360000" y="4320000"/>
            <a:ext cx="4292280" cy="508680"/>
          </a:xfrm>
          <a:prstGeom prst="rect">
            <a:avLst/>
          </a:prstGeom>
          <a:ln w="0">
            <a:noFill/>
          </a:ln>
        </p:spPr>
      </p:pic>
      <p:pic>
        <p:nvPicPr>
          <p:cNvPr id="135" name="" descr=""/>
          <p:cNvPicPr/>
          <p:nvPr/>
        </p:nvPicPr>
        <p:blipFill>
          <a:blip r:embed="rId4"/>
          <a:stretch/>
        </p:blipFill>
        <p:spPr>
          <a:xfrm>
            <a:off x="4680360" y="3960000"/>
            <a:ext cx="3959640" cy="1227240"/>
          </a:xfrm>
          <a:prstGeom prst="rect">
            <a:avLst/>
          </a:prstGeom>
          <a:ln w="0">
            <a:noFill/>
          </a:ln>
        </p:spPr>
      </p:pic>
      <p:sp>
        <p:nvSpPr>
          <p:cNvPr id="136" name="PlaceHolder 18"/>
          <p:cNvSpPr txBox="1"/>
          <p:nvPr/>
        </p:nvSpPr>
        <p:spPr>
          <a:xfrm>
            <a:off x="457200" y="34344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RU" sz="3200" spc="-1" strike="noStrike">
                <a:solidFill>
                  <a:schemeClr val="dk1"/>
                </a:solidFill>
                <a:latin typeface="Golos Text DemiBold"/>
              </a:rPr>
              <a:t>Колл-центры, стойки сервиса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21"/>
          <p:cNvSpPr/>
          <p:nvPr/>
        </p:nvSpPr>
        <p:spPr>
          <a:xfrm>
            <a:off x="592560" y="1260000"/>
            <a:ext cx="8227440" cy="37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marL="395280" indent="-457200">
              <a:lnSpc>
                <a:spcPct val="100000"/>
              </a:lnSpc>
              <a:tabLst>
                <a:tab algn="l" pos="0"/>
              </a:tabLst>
            </a:pPr>
            <a:r>
              <a:rPr b="1" lang="ru-RU" sz="1800" spc="-1" strike="noStrike">
                <a:solidFill>
                  <a:schemeClr val="dk1"/>
                </a:solidFill>
                <a:latin typeface="Arial"/>
              </a:rPr>
              <a:t>Управляемые факторы: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Размер партии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Страховой запас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Приоритеты обработки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Количество станков на операциях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Скорость конвейера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Число рабочих смен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Буферы между операциями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1984"/>
              </a:spcBef>
              <a:tabLst>
                <a:tab algn="l" pos="0"/>
              </a:tabLst>
            </a:pPr>
            <a:r>
              <a:rPr b="1" lang="ru-RU" sz="1800" spc="-1" strike="noStrike">
                <a:solidFill>
                  <a:schemeClr val="dk1"/>
                </a:solidFill>
                <a:latin typeface="Arial"/>
              </a:rPr>
              <a:t>Ограничения: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Выпуск ≥ план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Свободная площадь склада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Брак ≤ норма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1800" spc="-1" strike="noStrike">
                <a:solidFill>
                  <a:schemeClr val="dk1"/>
                </a:solidFill>
                <a:latin typeface="Arial"/>
              </a:rPr>
              <a:t>Ресурс оборудования</a:t>
            </a:r>
            <a:endParaRPr b="0" lang="ru-RU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20"/>
          <p:cNvSpPr txBox="1"/>
          <p:nvPr/>
        </p:nvSpPr>
        <p:spPr>
          <a:xfrm>
            <a:off x="457200" y="34380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RU" sz="3200" spc="-1" strike="noStrike">
                <a:solidFill>
                  <a:schemeClr val="dk1"/>
                </a:solidFill>
                <a:latin typeface="Golos Text DemiBold"/>
              </a:rPr>
              <a:t>Производство, склад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23"/>
          <p:cNvSpPr/>
          <p:nvPr/>
        </p:nvSpPr>
        <p:spPr>
          <a:xfrm>
            <a:off x="412200" y="1329840"/>
            <a:ext cx="8227440" cy="37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marL="395280" indent="-4572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tabLst>
                <a:tab algn="l" pos="0"/>
              </a:tabLst>
            </a:pPr>
            <a:r>
              <a:rPr b="1" lang="ru-RU" sz="2100" spc="-1" strike="noStrike">
                <a:solidFill>
                  <a:schemeClr val="dk1"/>
                </a:solidFill>
                <a:latin typeface="Arial"/>
              </a:rPr>
              <a:t>ЦФ: Минимизация затрат при выполнении плана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tabLst>
                <a:tab algn="l" pos="0"/>
              </a:tabLst>
            </a:pPr>
            <a:r>
              <a:rPr b="1" lang="ru-RU" sz="2100" spc="-1" strike="noStrike">
                <a:solidFill>
                  <a:schemeClr val="dk1"/>
                </a:solidFill>
                <a:latin typeface="Arial"/>
                <a:ea typeface="Noto Sans CJK SC"/>
              </a:rPr>
              <a:t>ЦФ: Максимизация пропускной способности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0" name="" descr=""/>
          <p:cNvPicPr/>
          <p:nvPr/>
        </p:nvPicPr>
        <p:blipFill>
          <a:blip r:embed="rId1"/>
          <a:stretch/>
        </p:blipFill>
        <p:spPr>
          <a:xfrm>
            <a:off x="360000" y="2194200"/>
            <a:ext cx="4139640" cy="805320"/>
          </a:xfrm>
          <a:prstGeom prst="rect">
            <a:avLst/>
          </a:prstGeom>
          <a:ln w="0">
            <a:noFill/>
          </a:ln>
        </p:spPr>
      </p:pic>
      <p:pic>
        <p:nvPicPr>
          <p:cNvPr id="141" name="" descr=""/>
          <p:cNvPicPr/>
          <p:nvPr/>
        </p:nvPicPr>
        <p:blipFill>
          <a:blip r:embed="rId2"/>
          <a:stretch/>
        </p:blipFill>
        <p:spPr>
          <a:xfrm>
            <a:off x="4578840" y="1718280"/>
            <a:ext cx="4240800" cy="1851480"/>
          </a:xfrm>
          <a:prstGeom prst="rect">
            <a:avLst/>
          </a:prstGeom>
          <a:ln w="0">
            <a:noFill/>
          </a:ln>
        </p:spPr>
      </p:pic>
      <p:pic>
        <p:nvPicPr>
          <p:cNvPr id="142" name="" descr=""/>
          <p:cNvPicPr/>
          <p:nvPr/>
        </p:nvPicPr>
        <p:blipFill>
          <a:blip r:embed="rId3"/>
          <a:stretch/>
        </p:blipFill>
        <p:spPr>
          <a:xfrm>
            <a:off x="1620000" y="4434120"/>
            <a:ext cx="1442880" cy="425880"/>
          </a:xfrm>
          <a:prstGeom prst="rect">
            <a:avLst/>
          </a:prstGeom>
          <a:ln w="0">
            <a:noFill/>
          </a:ln>
        </p:spPr>
      </p:pic>
      <p:pic>
        <p:nvPicPr>
          <p:cNvPr id="143" name="" descr=""/>
          <p:cNvPicPr/>
          <p:nvPr/>
        </p:nvPicPr>
        <p:blipFill>
          <a:blip r:embed="rId4"/>
          <a:stretch/>
        </p:blipFill>
        <p:spPr>
          <a:xfrm>
            <a:off x="4751280" y="4300920"/>
            <a:ext cx="3779640" cy="627480"/>
          </a:xfrm>
          <a:prstGeom prst="rect">
            <a:avLst/>
          </a:prstGeom>
          <a:ln w="0">
            <a:noFill/>
          </a:ln>
        </p:spPr>
      </p:pic>
      <p:sp>
        <p:nvSpPr>
          <p:cNvPr id="144" name="PlaceHolder 22"/>
          <p:cNvSpPr txBox="1"/>
          <p:nvPr/>
        </p:nvSpPr>
        <p:spPr>
          <a:xfrm>
            <a:off x="457200" y="34416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RU" sz="3200" spc="-1" strike="noStrike">
                <a:solidFill>
                  <a:schemeClr val="dk1"/>
                </a:solidFill>
                <a:latin typeface="Golos Text DemiBold"/>
              </a:rPr>
              <a:t>Производство, склад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25"/>
          <p:cNvSpPr/>
          <p:nvPr/>
        </p:nvSpPr>
        <p:spPr>
          <a:xfrm>
            <a:off x="540360" y="1329840"/>
            <a:ext cx="8227440" cy="37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tabLst>
                <a:tab algn="l" pos="0"/>
              </a:tabLst>
            </a:pPr>
            <a:r>
              <a:rPr b="1" lang="ru-RU" sz="2100" spc="-1" strike="noStrike">
                <a:solidFill>
                  <a:schemeClr val="dk1"/>
                </a:solidFill>
                <a:latin typeface="Arial"/>
              </a:rPr>
              <a:t>Управляемые факторы: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2100" spc="-1" strike="noStrike">
                <a:solidFill>
                  <a:schemeClr val="dk1"/>
                </a:solidFill>
                <a:latin typeface="Arial"/>
              </a:rPr>
              <a:t>Пропускная способность каналов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2100" spc="-1" strike="noStrike">
                <a:solidFill>
                  <a:schemeClr val="dk1"/>
                </a:solidFill>
                <a:latin typeface="Arial"/>
              </a:rPr>
              <a:t>Алгоритм маршрутизации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2100" spc="-1" strike="noStrike">
                <a:solidFill>
                  <a:schemeClr val="dk1"/>
                </a:solidFill>
                <a:latin typeface="Arial"/>
              </a:rPr>
              <a:t>Размер буферов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2100" spc="-1" strike="noStrike">
                <a:solidFill>
                  <a:schemeClr val="dk1"/>
                </a:solidFill>
                <a:latin typeface="Arial"/>
              </a:rPr>
              <a:t>Распределение полосы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2100" spc="-1" strike="noStrike">
                <a:solidFill>
                  <a:schemeClr val="dk1"/>
                </a:solidFill>
                <a:latin typeface="Arial"/>
              </a:rPr>
              <a:t>Приоритезация трафика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2268"/>
              </a:spcBef>
              <a:spcAft>
                <a:spcPts val="283"/>
              </a:spcAft>
              <a:tabLst>
                <a:tab algn="l" pos="0"/>
              </a:tabLst>
            </a:pPr>
            <a:r>
              <a:rPr b="1" lang="ru-RU" sz="2100" spc="-1" strike="noStrike">
                <a:solidFill>
                  <a:schemeClr val="dk1"/>
                </a:solidFill>
                <a:latin typeface="Arial"/>
              </a:rPr>
              <a:t>Ограничения: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2100" spc="-1" strike="noStrike">
                <a:solidFill>
                  <a:schemeClr val="dk1"/>
                </a:solidFill>
                <a:latin typeface="Arial"/>
              </a:rPr>
              <a:t>Потери ≤ допустимый уровень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283"/>
              </a:spcBef>
              <a:spcAft>
                <a:spcPts val="283"/>
              </a:spcAft>
              <a:buClr>
                <a:srgbClr val="000000"/>
              </a:buClr>
              <a:buFont typeface="Symbol" charset="2"/>
              <a:buChar char=""/>
              <a:tabLst>
                <a:tab algn="l" pos="0"/>
              </a:tabLst>
            </a:pPr>
            <a:r>
              <a:rPr b="0" lang="ru-RU" sz="2100" spc="-1" strike="noStrike">
                <a:solidFill>
                  <a:schemeClr val="dk1"/>
                </a:solidFill>
                <a:latin typeface="Arial"/>
              </a:rPr>
              <a:t>Джиттер ≤ норма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24"/>
          <p:cNvSpPr txBox="1"/>
          <p:nvPr/>
        </p:nvSpPr>
        <p:spPr>
          <a:xfrm>
            <a:off x="457200" y="34452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RU" sz="3200" spc="-1" strike="noStrike">
                <a:solidFill>
                  <a:schemeClr val="dk1"/>
                </a:solidFill>
                <a:latin typeface="Golos Text DemiBold"/>
              </a:rPr>
              <a:t>Телекоммуникации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PlaceHolder 27"/>
          <p:cNvSpPr/>
          <p:nvPr/>
        </p:nvSpPr>
        <p:spPr>
          <a:xfrm>
            <a:off x="412200" y="1329840"/>
            <a:ext cx="8227440" cy="376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numCol="1" spcCol="0" lIns="90000" rIns="90000" tIns="45000" bIns="45000" anchor="t">
            <a:noAutofit/>
          </a:bodyPr>
          <a:p>
            <a:pPr marL="395280" indent="-4572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tabLst>
                <a:tab algn="l" pos="0"/>
              </a:tabLst>
            </a:pPr>
            <a:r>
              <a:rPr b="1" lang="ru-RU" sz="2100" spc="-1" strike="noStrike">
                <a:solidFill>
                  <a:schemeClr val="dk1"/>
                </a:solidFill>
                <a:latin typeface="Arial"/>
              </a:rPr>
              <a:t>ЦФ: Минимизация задержек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340"/>
              </a:spcBef>
              <a:spcAft>
                <a:spcPts val="283"/>
              </a:spcAft>
              <a:tabLst>
                <a:tab algn="l" pos="0"/>
              </a:tabLst>
            </a:pPr>
            <a:r>
              <a:rPr b="1" lang="ru-RU" sz="2100" spc="-1" strike="noStrike">
                <a:solidFill>
                  <a:schemeClr val="dk1"/>
                </a:solidFill>
                <a:latin typeface="Arial"/>
                <a:ea typeface="Noto Sans CJK SC"/>
              </a:rPr>
              <a:t>ЦФ: Максимизация пропускной способности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marL="395280" indent="-4572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8" name="" descr=""/>
          <p:cNvPicPr/>
          <p:nvPr/>
        </p:nvPicPr>
        <p:blipFill>
          <a:blip r:embed="rId1"/>
          <a:stretch/>
        </p:blipFill>
        <p:spPr>
          <a:xfrm>
            <a:off x="1440000" y="1921680"/>
            <a:ext cx="1915920" cy="514080"/>
          </a:xfrm>
          <a:prstGeom prst="rect">
            <a:avLst/>
          </a:prstGeom>
          <a:ln w="0">
            <a:noFill/>
          </a:ln>
        </p:spPr>
      </p:pic>
      <p:pic>
        <p:nvPicPr>
          <p:cNvPr id="149" name="" descr=""/>
          <p:cNvPicPr/>
          <p:nvPr/>
        </p:nvPicPr>
        <p:blipFill>
          <a:blip r:embed="rId2"/>
          <a:stretch/>
        </p:blipFill>
        <p:spPr>
          <a:xfrm>
            <a:off x="4452840" y="1911600"/>
            <a:ext cx="4042800" cy="583920"/>
          </a:xfrm>
          <a:prstGeom prst="rect">
            <a:avLst/>
          </a:prstGeom>
          <a:ln w="0">
            <a:noFill/>
          </a:ln>
        </p:spPr>
      </p:pic>
      <p:pic>
        <p:nvPicPr>
          <p:cNvPr id="150" name="" descr=""/>
          <p:cNvPicPr/>
          <p:nvPr/>
        </p:nvPicPr>
        <p:blipFill>
          <a:blip r:embed="rId3"/>
          <a:stretch/>
        </p:blipFill>
        <p:spPr>
          <a:xfrm>
            <a:off x="1080000" y="3602520"/>
            <a:ext cx="2658600" cy="537480"/>
          </a:xfrm>
          <a:prstGeom prst="rect">
            <a:avLst/>
          </a:prstGeom>
          <a:ln w="0">
            <a:noFill/>
          </a:ln>
        </p:spPr>
      </p:pic>
      <p:pic>
        <p:nvPicPr>
          <p:cNvPr id="151" name="" descr=""/>
          <p:cNvPicPr/>
          <p:nvPr/>
        </p:nvPicPr>
        <p:blipFill>
          <a:blip r:embed="rId4"/>
          <a:stretch/>
        </p:blipFill>
        <p:spPr>
          <a:xfrm>
            <a:off x="4428000" y="3540240"/>
            <a:ext cx="4387320" cy="599760"/>
          </a:xfrm>
          <a:prstGeom prst="rect">
            <a:avLst/>
          </a:prstGeom>
          <a:ln w="0">
            <a:noFill/>
          </a:ln>
        </p:spPr>
      </p:pic>
      <p:sp>
        <p:nvSpPr>
          <p:cNvPr id="152" name="PlaceHolder 26"/>
          <p:cNvSpPr txBox="1"/>
          <p:nvPr/>
        </p:nvSpPr>
        <p:spPr>
          <a:xfrm>
            <a:off x="457200" y="34488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p>
            <a:pPr defTabSz="457200">
              <a:lnSpc>
                <a:spcPct val="100000"/>
              </a:lnSpc>
              <a:tabLst>
                <a:tab algn="l" pos="0"/>
              </a:tabLst>
            </a:pPr>
            <a:r>
              <a:rPr b="1" lang="en-RU" sz="3200" spc="-1" strike="noStrike">
                <a:solidFill>
                  <a:schemeClr val="dk1"/>
                </a:solidFill>
                <a:latin typeface="Golos Text DemiBold"/>
              </a:rPr>
              <a:t>Телекоммуникации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2700" spc="-1" strike="noStrike">
                <a:solidFill>
                  <a:schemeClr val="dk1"/>
                </a:solidFill>
                <a:latin typeface="Golos Text DemiBold"/>
              </a:rPr>
              <a:t>Синтез СМО</a:t>
            </a:r>
            <a:endParaRPr b="0" lang="ru-RU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/>
          </p:nvPr>
        </p:nvSpPr>
        <p:spPr>
          <a:xfrm>
            <a:off x="457200" y="1346400"/>
            <a:ext cx="7464960" cy="3827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i="1" lang="en-RU" sz="14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… </a:t>
            </a:r>
            <a:r>
              <a:rPr b="0" i="1" lang="ru-RU" sz="14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что именно надо сделать — увеличивать количество каналов или увеличивать их пропускную способность, или увеличивать количество мест в очереди, и, если увеличивать, то насколько? </a:t>
            </a:r>
            <a:r>
              <a:rPr b="0" i="1" lang="en-RU" sz="14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Ч</a:t>
            </a:r>
            <a:r>
              <a:rPr b="0" i="1" lang="ru-RU" sz="14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то лучше — создать 3 канала с производительностью 5 </a:t>
            </a:r>
            <a:r>
              <a:rPr b="0" i="1" lang="en-RU" sz="14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заявок</a:t>
            </a:r>
            <a:r>
              <a:rPr b="0" i="1" lang="ru-RU" sz="14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/час или один с производительностью 15</a:t>
            </a:r>
            <a:r>
              <a:rPr b="0" i="1" lang="en-RU" sz="14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 заявок</a:t>
            </a:r>
            <a:r>
              <a:rPr b="0" i="1" lang="ru-RU" sz="14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/час?</a:t>
            </a:r>
            <a:r>
              <a:rPr b="0" i="1" lang="en-RU" sz="14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..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1" lang="en-RU" sz="14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Метод покоординатного спуска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ru-RU" sz="13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Фиксиру</a:t>
            </a:r>
            <a:r>
              <a:rPr b="0" lang="en-RU" sz="13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ем</a:t>
            </a:r>
            <a:r>
              <a:rPr b="0" lang="ru-RU" sz="13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 все параметры кроме одного</a:t>
            </a:r>
            <a:r>
              <a:rPr b="0" lang="en-RU" sz="13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;</a:t>
            </a:r>
            <a:r>
              <a:rPr b="0" lang="ru-RU" sz="13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 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RU" sz="13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Вычисляем</a:t>
            </a:r>
            <a:r>
              <a:rPr b="0" lang="ru-RU" sz="13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 значение всех показателей при </a:t>
            </a:r>
            <a:br>
              <a:rPr sz="1300"/>
            </a:br>
            <a:r>
              <a:rPr b="0" lang="ru-RU" sz="13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нескольких значениях этого выбранного параметра</a:t>
            </a:r>
            <a:r>
              <a:rPr b="0" lang="en-RU" sz="13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;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RU" sz="13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П</a:t>
            </a:r>
            <a:r>
              <a:rPr b="0" lang="ru-RU" sz="13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овторя</a:t>
            </a:r>
            <a:r>
              <a:rPr b="0" lang="en-RU" sz="13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ем</a:t>
            </a:r>
            <a:r>
              <a:rPr b="0" lang="ru-RU" sz="13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 процедуру имитации и усредня</a:t>
            </a:r>
            <a:r>
              <a:rPr b="0" lang="en-RU" sz="13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ем</a:t>
            </a:r>
            <a:r>
              <a:rPr b="0" lang="ru-RU" sz="13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 </a:t>
            </a:r>
            <a:br>
              <a:rPr sz="1300"/>
            </a:br>
            <a:r>
              <a:rPr b="0" lang="ru-RU" sz="13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показатели при каждом значении параметра</a:t>
            </a:r>
            <a:r>
              <a:rPr b="0" lang="en-RU" sz="13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,</a:t>
            </a:r>
            <a:r>
              <a:rPr b="0" lang="ru-RU" sz="13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 </a:t>
            </a:r>
            <a:br>
              <a:rPr sz="1300"/>
            </a:br>
            <a:r>
              <a:rPr b="0" lang="ru-RU" sz="13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оценива</a:t>
            </a:r>
            <a:r>
              <a:rPr b="0" lang="en-RU" sz="13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я</a:t>
            </a:r>
            <a:r>
              <a:rPr b="0" lang="ru-RU" sz="13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 точность</a:t>
            </a:r>
            <a:r>
              <a:rPr b="0" lang="en-RU" sz="13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;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  <a:p>
            <a:pPr marL="285840" indent="-285840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algn="l" pos="0"/>
              </a:tabLst>
            </a:pPr>
            <a:r>
              <a:rPr b="0" lang="en-RU" sz="13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Производим статистическую и аналитическую</a:t>
            </a:r>
            <a:br>
              <a:rPr sz="1300"/>
            </a:br>
            <a:r>
              <a:rPr b="0" lang="en-RU" sz="1300" spc="-1" strike="noStrike">
                <a:solidFill>
                  <a:srgbClr val="000000"/>
                </a:solidFill>
                <a:highlight>
                  <a:srgbClr val="ffffff"/>
                </a:highlight>
                <a:latin typeface="-webkit-standard"/>
              </a:rPr>
              <a:t>обработку графиков – якобиан системы. </a:t>
            </a:r>
            <a:endParaRPr b="0" lang="ru-RU" sz="13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5" name="Picture 29" descr="A diagram of a graph&#10;&#10;Description automatically generated"/>
          <p:cNvPicPr/>
          <p:nvPr/>
        </p:nvPicPr>
        <p:blipFill>
          <a:blip r:embed="rId1"/>
          <a:stretch/>
        </p:blipFill>
        <p:spPr>
          <a:xfrm>
            <a:off x="5119920" y="2420640"/>
            <a:ext cx="3664080" cy="2619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 fontScale="83888"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dk1"/>
                </a:solidFill>
                <a:latin typeface="Golos Text DemiBold"/>
              </a:rPr>
              <a:t>Как принять решение о значениях?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7" name="Content Placeholder 3" descr="A graph with a curve&#10;&#10;Description automatically generated with medium confidence"/>
          <p:cNvPicPr/>
          <p:nvPr/>
        </p:nvPicPr>
        <p:blipFill>
          <a:blip r:embed="rId1"/>
          <a:stretch/>
        </p:blipFill>
        <p:spPr>
          <a:xfrm>
            <a:off x="550440" y="1224720"/>
            <a:ext cx="2745360" cy="1475280"/>
          </a:xfrm>
          <a:prstGeom prst="rect">
            <a:avLst/>
          </a:prstGeom>
          <a:ln w="0">
            <a:noFill/>
          </a:ln>
        </p:spPr>
      </p:pic>
      <p:pic>
        <p:nvPicPr>
          <p:cNvPr id="158" name="Picture 30" descr="A diagram of a curve&#10;&#10;Description automatically generated"/>
          <p:cNvPicPr/>
          <p:nvPr/>
        </p:nvPicPr>
        <p:blipFill>
          <a:blip r:embed="rId2"/>
          <a:stretch/>
        </p:blipFill>
        <p:spPr>
          <a:xfrm>
            <a:off x="4814640" y="1143360"/>
            <a:ext cx="3918600" cy="2058120"/>
          </a:xfrm>
          <a:prstGeom prst="rect">
            <a:avLst/>
          </a:prstGeom>
          <a:ln w="0">
            <a:noFill/>
          </a:ln>
        </p:spPr>
      </p:pic>
      <p:pic>
        <p:nvPicPr>
          <p:cNvPr id="159" name="Picture 31" descr="A diagram of a graph&#10;&#10;Description automatically generated"/>
          <p:cNvPicPr/>
          <p:nvPr/>
        </p:nvPicPr>
        <p:blipFill>
          <a:blip r:embed="rId3"/>
          <a:stretch/>
        </p:blipFill>
        <p:spPr>
          <a:xfrm>
            <a:off x="1151640" y="2641320"/>
            <a:ext cx="3663000" cy="2678040"/>
          </a:xfrm>
          <a:prstGeom prst="rect">
            <a:avLst/>
          </a:prstGeom>
          <a:ln w="0">
            <a:noFill/>
          </a:ln>
        </p:spPr>
      </p:pic>
      <p:cxnSp>
        <p:nvCxnSpPr>
          <p:cNvPr id="160" name="Straight Arrow Connector 3"/>
          <p:cNvCxnSpPr/>
          <p:nvPr/>
        </p:nvCxnSpPr>
        <p:spPr>
          <a:xfrm>
            <a:off x="3034080" y="1838520"/>
            <a:ext cx="1286280" cy="141840"/>
          </a:xfrm>
          <a:prstGeom prst="straightConnector1">
            <a:avLst/>
          </a:prstGeom>
          <a:ln w="0">
            <a:solidFill>
              <a:srgbClr val="969696"/>
            </a:solidFill>
            <a:tailEnd len="med" type="triangle" w="med"/>
          </a:ln>
        </p:spPr>
      </p:cxnSp>
      <p:cxnSp>
        <p:nvCxnSpPr>
          <p:cNvPr id="161" name="Straight Arrow Connector 4"/>
          <p:cNvCxnSpPr/>
          <p:nvPr/>
        </p:nvCxnSpPr>
        <p:spPr>
          <a:xfrm flipH="1">
            <a:off x="4320000" y="2840760"/>
            <a:ext cx="860040" cy="759600"/>
          </a:xfrm>
          <a:prstGeom prst="straightConnector1">
            <a:avLst/>
          </a:prstGeom>
          <a:ln w="0">
            <a:solidFill>
              <a:srgbClr val="969696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dk1"/>
                </a:solidFill>
                <a:latin typeface="Golos Text DemiBold"/>
              </a:rPr>
              <a:t>А как учесть риски?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3" name="Content Placeholder 5" descr="A diagram of a graph&#10;&#10;Description automatically generated"/>
          <p:cNvPicPr/>
          <p:nvPr/>
        </p:nvPicPr>
        <p:blipFill>
          <a:blip r:embed="rId1"/>
          <a:stretch/>
        </p:blipFill>
        <p:spPr>
          <a:xfrm>
            <a:off x="1327680" y="1100520"/>
            <a:ext cx="2194560" cy="1380240"/>
          </a:xfrm>
          <a:prstGeom prst="rect">
            <a:avLst/>
          </a:prstGeom>
          <a:ln w="0">
            <a:noFill/>
          </a:ln>
        </p:spPr>
      </p:pic>
      <p:pic>
        <p:nvPicPr>
          <p:cNvPr id="164" name="Picture 32" descr="A diagram of a graph&#10;&#10;Description automatically generated"/>
          <p:cNvPicPr/>
          <p:nvPr/>
        </p:nvPicPr>
        <p:blipFill>
          <a:blip r:embed="rId2"/>
          <a:stretch/>
        </p:blipFill>
        <p:spPr>
          <a:xfrm>
            <a:off x="4937040" y="1160280"/>
            <a:ext cx="2485440" cy="2792160"/>
          </a:xfrm>
          <a:prstGeom prst="rect">
            <a:avLst/>
          </a:prstGeom>
          <a:ln w="0">
            <a:noFill/>
          </a:ln>
        </p:spPr>
      </p:pic>
      <p:pic>
        <p:nvPicPr>
          <p:cNvPr id="165" name="Picture 33" descr="A graph of a function&#10;&#10;Description automatically generated with medium confidence"/>
          <p:cNvPicPr/>
          <p:nvPr/>
        </p:nvPicPr>
        <p:blipFill>
          <a:blip r:embed="rId3"/>
          <a:stretch/>
        </p:blipFill>
        <p:spPr>
          <a:xfrm>
            <a:off x="900360" y="2950200"/>
            <a:ext cx="3048840" cy="2323080"/>
          </a:xfrm>
          <a:prstGeom prst="rect">
            <a:avLst/>
          </a:prstGeom>
          <a:ln w="0">
            <a:noFill/>
          </a:ln>
        </p:spPr>
      </p:pic>
      <p:pic>
        <p:nvPicPr>
          <p:cNvPr id="166" name="Picture 34" descr="A judge holding a gavel&#10;&#10;Description automatically generated"/>
          <p:cNvPicPr/>
          <p:nvPr/>
        </p:nvPicPr>
        <p:blipFill>
          <a:blip r:embed="rId4"/>
          <a:stretch/>
        </p:blipFill>
        <p:spPr>
          <a:xfrm flipH="1">
            <a:off x="3907800" y="3681000"/>
            <a:ext cx="1423800" cy="1671120"/>
          </a:xfrm>
          <a:prstGeom prst="rect">
            <a:avLst/>
          </a:prstGeom>
          <a:ln w="0">
            <a:noFill/>
          </a:ln>
        </p:spPr>
      </p:pic>
      <p:cxnSp>
        <p:nvCxnSpPr>
          <p:cNvPr id="167" name="Straight Arrow Connector 1"/>
          <p:cNvCxnSpPr/>
          <p:nvPr/>
        </p:nvCxnSpPr>
        <p:spPr>
          <a:xfrm>
            <a:off x="3766680" y="1692000"/>
            <a:ext cx="896400" cy="166320"/>
          </a:xfrm>
          <a:prstGeom prst="straightConnector1">
            <a:avLst/>
          </a:prstGeom>
          <a:ln w="0">
            <a:solidFill>
              <a:srgbClr val="969696"/>
            </a:solidFill>
            <a:tailEnd len="med" type="triangle" w="med"/>
          </a:ln>
        </p:spPr>
      </p:cxnSp>
      <p:cxnSp>
        <p:nvCxnSpPr>
          <p:cNvPr id="168" name="Straight Arrow Connector 2"/>
          <p:cNvCxnSpPr/>
          <p:nvPr/>
        </p:nvCxnSpPr>
        <p:spPr>
          <a:xfrm flipH="1">
            <a:off x="3633840" y="2487960"/>
            <a:ext cx="1154880" cy="771480"/>
          </a:xfrm>
          <a:prstGeom prst="straightConnector1">
            <a:avLst/>
          </a:prstGeom>
          <a:ln w="0">
            <a:solidFill>
              <a:srgbClr val="969696"/>
            </a:solidFill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/>
          </p:nvPr>
        </p:nvSpPr>
        <p:spPr>
          <a:xfrm>
            <a:off x="585720" y="1584720"/>
            <a:ext cx="7167600" cy="378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i="1" lang="ru-RU" sz="1600" spc="-1" strike="noStrike">
                <a:solidFill>
                  <a:schemeClr val="dk1"/>
                </a:solidFill>
                <a:latin typeface="Symbol"/>
                <a:ea typeface="DejaVu Sans"/>
              </a:rPr>
              <a:t>λ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 – среднее число </a:t>
            </a:r>
            <a:r>
              <a:rPr b="0" lang="en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заявок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, поступающих за единицу времени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i="1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t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 – среднее время обслуживания </a:t>
            </a:r>
            <a:r>
              <a:rPr b="0" lang="en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заявки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i="1" lang="ru-RU" sz="1600" spc="-1" strike="noStrike">
                <a:solidFill>
                  <a:schemeClr val="dk1"/>
                </a:solidFill>
                <a:latin typeface="DejaVu Sans"/>
                <a:ea typeface="DejaVu Sans"/>
              </a:rPr>
              <a:t>μ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 = 1/</a:t>
            </a:r>
            <a:r>
              <a:rPr b="0" i="1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t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  – среднее число </a:t>
            </a:r>
            <a:r>
              <a:rPr b="0" lang="en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заявок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, обслуживаемых за единицу времени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i="1" lang="ru-RU" sz="1600" spc="-1" strike="noStrike">
                <a:solidFill>
                  <a:schemeClr val="dk1"/>
                </a:solidFill>
                <a:latin typeface="DejaVu Sans"/>
                <a:ea typeface="DejaVu Sans"/>
              </a:rPr>
              <a:t>α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Noto Sans CJK SC"/>
              </a:rPr>
              <a:t> = </a:t>
            </a:r>
            <a:r>
              <a:rPr b="0" i="1" lang="ru-RU" sz="1600" spc="-1" strike="noStrike">
                <a:solidFill>
                  <a:schemeClr val="dk1"/>
                </a:solidFill>
                <a:latin typeface="Symbol"/>
                <a:ea typeface="DejaVu Sans"/>
              </a:rPr>
              <a:t>λ</a:t>
            </a:r>
            <a:r>
              <a:rPr b="0" i="1" lang="ru-RU" sz="1600" spc="-1" strike="noStrike">
                <a:solidFill>
                  <a:schemeClr val="dk1"/>
                </a:solidFill>
                <a:latin typeface="Symbol"/>
                <a:ea typeface="Noto Sans CJK SC"/>
              </a:rPr>
              <a:t>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Noto Sans CJK SC"/>
              </a:rPr>
              <a:t>/</a:t>
            </a:r>
            <a:r>
              <a:rPr b="0" i="1" lang="ru-RU" sz="1600" spc="-1" strike="noStrike">
                <a:solidFill>
                  <a:schemeClr val="dk1"/>
                </a:solidFill>
                <a:latin typeface="Symbol"/>
                <a:ea typeface="Noto Sans CJK SC"/>
              </a:rPr>
              <a:t></a:t>
            </a:r>
            <a:r>
              <a:rPr b="0" i="1" lang="ru-RU" sz="1600" spc="-1" strike="noStrike">
                <a:solidFill>
                  <a:schemeClr val="dk1"/>
                </a:solidFill>
                <a:latin typeface="DejaVu Sans"/>
                <a:ea typeface="DejaVu Sans"/>
              </a:rPr>
              <a:t>μ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 –среднее число занятых каналов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i="1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n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 – общее число каналов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200" spc="-1" strike="noStrike">
                <a:solidFill>
                  <a:schemeClr val="lt1"/>
                </a:solidFill>
                <a:latin typeface="Golos Text DemiBold"/>
              </a:rPr>
              <a:t>Характеристики СМО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3"/>
          <p:cNvSpPr>
            <a:spLocks noGrp="1"/>
          </p:cNvSpPr>
          <p:nvPr>
            <p:ph/>
          </p:nvPr>
        </p:nvSpPr>
        <p:spPr>
          <a:xfrm>
            <a:off x="585720" y="3733200"/>
            <a:ext cx="6254640" cy="8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Вероятность того, что 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все </a:t>
            </a:r>
            <a:r>
              <a:rPr b="0" i="1" lang="ru-RU" sz="1600" spc="-1" strike="noStrike">
                <a:solidFill>
                  <a:schemeClr val="dk1"/>
                </a:solidFill>
                <a:latin typeface="Golos Text"/>
              </a:rPr>
              <a:t>n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</a:rPr>
              <a:t> каналов свободны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4"/>
          <p:cNvSpPr>
            <a:spLocks noGrp="1"/>
          </p:cNvSpPr>
          <p:nvPr>
            <p:ph type="ftr" idx="1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3" name="PlaceHolder 5"/>
          <p:cNvSpPr>
            <a:spLocks noGrp="1"/>
          </p:cNvSpPr>
          <p:nvPr>
            <p:ph type="sldNum" idx="2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74" name="Object 12"/>
          <p:cNvGraphicFramePr/>
          <p:nvPr/>
        </p:nvGraphicFramePr>
        <p:xfrm>
          <a:off x="3583800" y="3462840"/>
          <a:ext cx="3825360" cy="149904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75" name="Object 12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3583800" y="3462840"/>
                    <a:ext cx="3825360" cy="149904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76" name="TextBox 3"/>
          <p:cNvSpPr/>
          <p:nvPr/>
        </p:nvSpPr>
        <p:spPr>
          <a:xfrm>
            <a:off x="64440" y="1231920"/>
            <a:ext cx="5019480" cy="29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RU" sz="1350" spc="-1" strike="noStrike">
                <a:solidFill>
                  <a:schemeClr val="dk1"/>
                </a:solidFill>
                <a:latin typeface="Calibri"/>
              </a:rPr>
              <a:t>М</a:t>
            </a:r>
            <a:r>
              <a:rPr b="1" lang="ru-RU" sz="1350" spc="-1" strike="noStrike">
                <a:solidFill>
                  <a:schemeClr val="dk1"/>
                </a:solidFill>
                <a:latin typeface="Calibri"/>
              </a:rPr>
              <a:t>ногоканальн</a:t>
            </a:r>
            <a:r>
              <a:rPr b="1" lang="en-RU" sz="1350" spc="-1" strike="noStrike">
                <a:solidFill>
                  <a:schemeClr val="dk1"/>
                </a:solidFill>
                <a:latin typeface="Calibri"/>
              </a:rPr>
              <a:t>ая</a:t>
            </a:r>
            <a:r>
              <a:rPr b="1" lang="ru-RU" sz="1350" spc="-1" strike="noStrike">
                <a:solidFill>
                  <a:schemeClr val="dk1"/>
                </a:solidFill>
                <a:latin typeface="Calibri"/>
              </a:rPr>
              <a:t> СМО</a:t>
            </a:r>
            <a:r>
              <a:rPr b="1" lang="en-RU" sz="135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1" lang="ru-RU" sz="1350" spc="-1" strike="noStrike">
                <a:solidFill>
                  <a:schemeClr val="dk1"/>
                </a:solidFill>
                <a:latin typeface="Calibri"/>
              </a:rPr>
              <a:t>с неограниченной очередью</a:t>
            </a:r>
            <a:endParaRPr b="0" lang="ru-RU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Характеристики СМО (2)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569520" y="3080160"/>
            <a:ext cx="3883680" cy="8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420"/>
              </a:spcBef>
              <a:buNone/>
              <a:tabLst>
                <a:tab algn="l" pos="0"/>
              </a:tabLst>
            </a:pPr>
            <a:r>
              <a:rPr b="0" lang="ru-RU" sz="2100" spc="-1" strike="noStrike">
                <a:solidFill>
                  <a:schemeClr val="dk1"/>
                </a:solidFill>
                <a:latin typeface="Calibri"/>
              </a:rPr>
              <a:t>Вероятность того, что 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420"/>
              </a:spcBef>
              <a:buNone/>
              <a:tabLst>
                <a:tab algn="l" pos="0"/>
              </a:tabLst>
            </a:pPr>
            <a:r>
              <a:rPr b="0" lang="ru-RU" sz="2100" spc="-1" strike="noStrike">
                <a:solidFill>
                  <a:schemeClr val="dk1"/>
                </a:solidFill>
                <a:latin typeface="Calibri"/>
              </a:rPr>
              <a:t>свободно n</a:t>
            </a:r>
            <a:r>
              <a:rPr b="0" lang="en-RU" sz="21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100" spc="-1" strike="noStrike">
                <a:solidFill>
                  <a:schemeClr val="dk1"/>
                </a:solidFill>
                <a:latin typeface="Calibri"/>
              </a:rPr>
              <a:t>–</a:t>
            </a:r>
            <a:r>
              <a:rPr b="0" lang="en-RU" sz="21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ru-RU" sz="2100" spc="-1" strike="noStrike">
                <a:solidFill>
                  <a:schemeClr val="dk1"/>
                </a:solidFill>
                <a:latin typeface="Calibri"/>
              </a:rPr>
              <a:t>k каналов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79" name="Object 13"/>
          <p:cNvGraphicFramePr/>
          <p:nvPr/>
        </p:nvGraphicFramePr>
        <p:xfrm>
          <a:off x="624240" y="4156560"/>
          <a:ext cx="3108600" cy="93420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80" name="Object 13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624240" y="4156560"/>
                    <a:ext cx="3108600" cy="93420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81" name="Содержимое 6"/>
          <p:cNvSpPr/>
          <p:nvPr/>
        </p:nvSpPr>
        <p:spPr>
          <a:xfrm>
            <a:off x="4688280" y="3080160"/>
            <a:ext cx="3883680" cy="8971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420"/>
              </a:spcBef>
            </a:pPr>
            <a:r>
              <a:rPr b="0" lang="ru-RU" sz="2100" spc="-1" strike="noStrike">
                <a:solidFill>
                  <a:schemeClr val="dk1"/>
                </a:solidFill>
                <a:latin typeface="Calibri"/>
              </a:rPr>
              <a:t>Вероятность наличия очереди из </a:t>
            </a:r>
            <a:r>
              <a:rPr b="0" i="1" lang="ru-RU" sz="21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ru-RU" sz="2100" spc="-1" strike="noStrike">
                <a:solidFill>
                  <a:schemeClr val="dk1"/>
                </a:solidFill>
                <a:latin typeface="Calibri"/>
              </a:rPr>
              <a:t> – </a:t>
            </a:r>
            <a:r>
              <a:rPr b="0" i="1" lang="ru-RU" sz="2100" spc="-1" strike="noStrike">
                <a:solidFill>
                  <a:schemeClr val="dk1"/>
                </a:solidFill>
                <a:latin typeface="Calibri"/>
              </a:rPr>
              <a:t>n</a:t>
            </a:r>
            <a:r>
              <a:rPr b="0" lang="ru-RU" sz="2100" spc="-1" strike="noStrike">
                <a:solidFill>
                  <a:schemeClr val="dk1"/>
                </a:solidFill>
                <a:latin typeface="Calibri"/>
              </a:rPr>
              <a:t> заявок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82" name="Object 14"/>
          <p:cNvGraphicFramePr/>
          <p:nvPr/>
        </p:nvGraphicFramePr>
        <p:xfrm>
          <a:off x="4689000" y="4127400"/>
          <a:ext cx="3338280" cy="99216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183" name="Object 14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4689000" y="4127400"/>
                    <a:ext cx="3338280" cy="9921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84" name="PlaceHolder 3"/>
          <p:cNvSpPr>
            <a:spLocks noGrp="1"/>
          </p:cNvSpPr>
          <p:nvPr>
            <p:ph/>
          </p:nvPr>
        </p:nvSpPr>
        <p:spPr>
          <a:xfrm>
            <a:off x="624240" y="1205640"/>
            <a:ext cx="7114320" cy="174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i="1" lang="ru-RU" sz="1600" spc="-1" strike="noStrike">
                <a:solidFill>
                  <a:schemeClr val="dk1"/>
                </a:solidFill>
                <a:latin typeface="Symbol"/>
                <a:ea typeface="DejaVu Sans"/>
              </a:rPr>
              <a:t>λ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 – среднее число </a:t>
            </a:r>
            <a:r>
              <a:rPr b="0" lang="en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заявок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, поступающих за единицу времени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i="1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t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 – среднее время обслуживания </a:t>
            </a:r>
            <a:r>
              <a:rPr b="0" lang="en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заявки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i="1" lang="ru-RU" sz="1600" spc="-1" strike="noStrike">
                <a:solidFill>
                  <a:schemeClr val="dk1"/>
                </a:solidFill>
                <a:latin typeface="DejaVu Sans"/>
                <a:ea typeface="DejaVu Sans"/>
              </a:rPr>
              <a:t>μ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 = 1/</a:t>
            </a:r>
            <a:r>
              <a:rPr b="0" i="1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t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  – среднее число </a:t>
            </a:r>
            <a:r>
              <a:rPr b="0" lang="en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заявок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, обслуживаемых за единицу времени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i="1" lang="ru-RU" sz="1600" spc="-1" strike="noStrike">
                <a:solidFill>
                  <a:schemeClr val="dk1"/>
                </a:solidFill>
                <a:latin typeface="DejaVu Sans"/>
                <a:ea typeface="DejaVu Sans"/>
              </a:rPr>
              <a:t>α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Noto Sans CJK SC"/>
              </a:rPr>
              <a:t> = </a:t>
            </a:r>
            <a:r>
              <a:rPr b="0" i="1" lang="ru-RU" sz="1600" spc="-1" strike="noStrike">
                <a:solidFill>
                  <a:schemeClr val="dk1"/>
                </a:solidFill>
                <a:latin typeface="Symbol"/>
                <a:ea typeface="DejaVu Sans"/>
              </a:rPr>
              <a:t>λ</a:t>
            </a:r>
            <a:r>
              <a:rPr b="0" i="1" lang="ru-RU" sz="1600" spc="-1" strike="noStrike">
                <a:solidFill>
                  <a:schemeClr val="dk1"/>
                </a:solidFill>
                <a:latin typeface="Symbol"/>
                <a:ea typeface="Noto Sans CJK SC"/>
              </a:rPr>
              <a:t>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Noto Sans CJK SC"/>
              </a:rPr>
              <a:t>/</a:t>
            </a:r>
            <a:r>
              <a:rPr b="0" i="1" lang="ru-RU" sz="1600" spc="-1" strike="noStrike">
                <a:solidFill>
                  <a:schemeClr val="dk1"/>
                </a:solidFill>
                <a:latin typeface="Symbol"/>
                <a:ea typeface="Noto Sans CJK SC"/>
              </a:rPr>
              <a:t></a:t>
            </a:r>
            <a:r>
              <a:rPr b="0" i="1" lang="ru-RU" sz="1600" spc="-1" strike="noStrike">
                <a:solidFill>
                  <a:schemeClr val="dk1"/>
                </a:solidFill>
                <a:latin typeface="DejaVu Sans"/>
                <a:ea typeface="DejaVu Sans"/>
              </a:rPr>
              <a:t>μ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 –среднее число занятых каналов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i="1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n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 – общее число каналов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Характеристики СМО (3)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/>
          </p:nvPr>
        </p:nvSpPr>
        <p:spPr>
          <a:xfrm>
            <a:off x="486720" y="3233160"/>
            <a:ext cx="3883680" cy="8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420"/>
              </a:spcBef>
              <a:buNone/>
              <a:tabLst>
                <a:tab algn="l" pos="0"/>
              </a:tabLst>
            </a:pPr>
            <a:r>
              <a:rPr b="0" lang="ru-RU" sz="2100" spc="-1" strike="noStrike">
                <a:solidFill>
                  <a:schemeClr val="dk1"/>
                </a:solidFill>
                <a:latin typeface="Calibri"/>
              </a:rPr>
              <a:t>Вероятность наличия очереди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ftr" idx="3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sldNum" idx="4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89" name="Object 15"/>
          <p:cNvGraphicFramePr/>
          <p:nvPr/>
        </p:nvGraphicFramePr>
        <p:xfrm>
          <a:off x="542520" y="3920040"/>
          <a:ext cx="3566880" cy="99108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190" name="Object 15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542520" y="3920040"/>
                    <a:ext cx="3566880" cy="99108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91" name="Содержимое 4"/>
          <p:cNvSpPr/>
          <p:nvPr/>
        </p:nvSpPr>
        <p:spPr>
          <a:xfrm>
            <a:off x="5101920" y="3225960"/>
            <a:ext cx="3155400" cy="8971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420"/>
              </a:spcBef>
            </a:pPr>
            <a:r>
              <a:rPr b="0" lang="ru-RU" sz="2100" spc="-1" strike="noStrike">
                <a:solidFill>
                  <a:schemeClr val="dk1"/>
                </a:solidFill>
                <a:latin typeface="Calibri"/>
              </a:rPr>
              <a:t>Средняя длина очереди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92" name="Object 16"/>
          <p:cNvGraphicFramePr/>
          <p:nvPr/>
        </p:nvGraphicFramePr>
        <p:xfrm>
          <a:off x="4633560" y="3963240"/>
          <a:ext cx="3925440" cy="90504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193" name="Object 16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4633560" y="3963240"/>
                    <a:ext cx="3925440" cy="90504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194" name="Содержимое 10"/>
          <p:cNvSpPr/>
          <p:nvPr/>
        </p:nvSpPr>
        <p:spPr>
          <a:xfrm>
            <a:off x="624240" y="1205640"/>
            <a:ext cx="7294320" cy="174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i="1" lang="ru-RU" sz="1600" spc="-1" strike="noStrike">
                <a:solidFill>
                  <a:schemeClr val="dk1"/>
                </a:solidFill>
                <a:latin typeface="Symbol"/>
                <a:ea typeface="DejaVu Sans"/>
              </a:rPr>
              <a:t>λ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 – среднее число </a:t>
            </a:r>
            <a:r>
              <a:rPr b="0" lang="en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заявок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, поступающих за единицу времени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i="1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t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 – среднее время обслуживания </a:t>
            </a:r>
            <a:r>
              <a:rPr b="0" lang="en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заявки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i="1" lang="ru-RU" sz="1600" spc="-1" strike="noStrike">
                <a:solidFill>
                  <a:schemeClr val="dk1"/>
                </a:solidFill>
                <a:latin typeface="DejaVu Sans"/>
                <a:ea typeface="DejaVu Sans"/>
              </a:rPr>
              <a:t>μ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 = 1/</a:t>
            </a:r>
            <a:r>
              <a:rPr b="0" i="1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t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  – среднее число </a:t>
            </a:r>
            <a:r>
              <a:rPr b="0" lang="en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заявок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, обслуживаемых за единицу времени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i="1" lang="ru-RU" sz="1600" spc="-1" strike="noStrike">
                <a:solidFill>
                  <a:schemeClr val="dk1"/>
                </a:solidFill>
                <a:latin typeface="DejaVu Sans"/>
                <a:ea typeface="DejaVu Sans"/>
              </a:rPr>
              <a:t>α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Noto Sans CJK SC"/>
              </a:rPr>
              <a:t> = </a:t>
            </a:r>
            <a:r>
              <a:rPr b="0" i="1" lang="ru-RU" sz="1600" spc="-1" strike="noStrike">
                <a:solidFill>
                  <a:schemeClr val="dk1"/>
                </a:solidFill>
                <a:latin typeface="Symbol"/>
                <a:ea typeface="DejaVu Sans"/>
              </a:rPr>
              <a:t>λ</a:t>
            </a:r>
            <a:r>
              <a:rPr b="0" i="1" lang="ru-RU" sz="1600" spc="-1" strike="noStrike">
                <a:solidFill>
                  <a:schemeClr val="dk1"/>
                </a:solidFill>
                <a:latin typeface="Symbol"/>
                <a:ea typeface="Noto Sans CJK SC"/>
              </a:rPr>
              <a:t>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Noto Sans CJK SC"/>
              </a:rPr>
              <a:t>/</a:t>
            </a:r>
            <a:r>
              <a:rPr b="0" i="1" lang="ru-RU" sz="1600" spc="-1" strike="noStrike">
                <a:solidFill>
                  <a:schemeClr val="dk1"/>
                </a:solidFill>
                <a:latin typeface="Symbol"/>
                <a:ea typeface="Noto Sans CJK SC"/>
              </a:rPr>
              <a:t></a:t>
            </a:r>
            <a:r>
              <a:rPr b="0" i="1" lang="ru-RU" sz="1600" spc="-1" strike="noStrike">
                <a:solidFill>
                  <a:schemeClr val="dk1"/>
                </a:solidFill>
                <a:latin typeface="DejaVu Sans"/>
                <a:ea typeface="DejaVu Sans"/>
              </a:rPr>
              <a:t>μ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 –среднее число занятых каналов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i="1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n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 – общее число каналов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457200" y="340200"/>
            <a:ext cx="6822000" cy="58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RU" sz="3200" spc="-1" strike="noStrike">
                <a:solidFill>
                  <a:schemeClr val="lt1"/>
                </a:solidFill>
                <a:latin typeface="Golos Text DemiBold"/>
              </a:rPr>
              <a:t>Характеристики СМО (3)</a:t>
            </a:r>
            <a:endParaRPr b="0" lang="ru-RU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/>
          </p:nvPr>
        </p:nvSpPr>
        <p:spPr>
          <a:xfrm>
            <a:off x="504720" y="2937960"/>
            <a:ext cx="3883680" cy="898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457200">
              <a:lnSpc>
                <a:spcPct val="100000"/>
              </a:lnSpc>
              <a:spcBef>
                <a:spcPts val="420"/>
              </a:spcBef>
              <a:buNone/>
              <a:tabLst>
                <a:tab algn="l" pos="0"/>
              </a:tabLst>
            </a:pPr>
            <a:r>
              <a:rPr b="0" lang="en-RU" sz="2100" spc="-1" strike="noStrike">
                <a:solidFill>
                  <a:schemeClr val="dk1"/>
                </a:solidFill>
                <a:latin typeface="Calibri"/>
              </a:rPr>
              <a:t>Среднее время ожидания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ftr" idx="5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sldNum" idx="6"/>
          </p:nvPr>
        </p:nvSpPr>
        <p:spPr>
          <a:xfrm>
            <a:off x="0" y="0"/>
            <a:ext cx="360" cy="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-44640" bIns="-44640" anchor="t">
            <a:noAutofit/>
          </a:bodyPr>
          <a:p>
            <a:pPr indent="0">
              <a:buNone/>
            </a:pPr>
            <a:endParaRPr b="0" lang="ru-RU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9" name="Содержимое 9"/>
          <p:cNvSpPr/>
          <p:nvPr/>
        </p:nvSpPr>
        <p:spPr>
          <a:xfrm>
            <a:off x="4510440" y="2937960"/>
            <a:ext cx="3739680" cy="897120"/>
          </a:xfrm>
          <a:prstGeom prst="rect">
            <a:avLst/>
          </a:prstGeom>
          <a:noFill/>
          <a:ln w="9525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457200">
              <a:lnSpc>
                <a:spcPct val="100000"/>
              </a:lnSpc>
              <a:spcBef>
                <a:spcPts val="420"/>
              </a:spcBef>
            </a:pPr>
            <a:r>
              <a:rPr b="0" lang="en-RU" sz="2100" spc="-1" strike="noStrike">
                <a:solidFill>
                  <a:schemeClr val="dk1"/>
                </a:solidFill>
                <a:latin typeface="Calibri"/>
              </a:rPr>
              <a:t>Коэффициент простоя каналов</a:t>
            </a:r>
            <a:endParaRPr b="0" lang="ru-RU" sz="2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Содержимое 13"/>
          <p:cNvSpPr/>
          <p:nvPr/>
        </p:nvSpPr>
        <p:spPr>
          <a:xfrm>
            <a:off x="624240" y="1205640"/>
            <a:ext cx="7294320" cy="174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i="1" lang="ru-RU" sz="1600" spc="-1" strike="noStrike">
                <a:solidFill>
                  <a:schemeClr val="dk1"/>
                </a:solidFill>
                <a:latin typeface="Symbol"/>
                <a:ea typeface="DejaVu Sans"/>
              </a:rPr>
              <a:t>λ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 – среднее число </a:t>
            </a:r>
            <a:r>
              <a:rPr b="0" lang="en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заявок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, поступающих за единицу времени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i="1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t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 – среднее время обслуживания </a:t>
            </a:r>
            <a:r>
              <a:rPr b="0" lang="en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заявки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i="1" lang="ru-RU" sz="1600" spc="-1" strike="noStrike">
                <a:solidFill>
                  <a:schemeClr val="dk1"/>
                </a:solidFill>
                <a:latin typeface="DejaVu Sans"/>
                <a:ea typeface="DejaVu Sans"/>
              </a:rPr>
              <a:t>μ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 = 1/</a:t>
            </a:r>
            <a:r>
              <a:rPr b="0" i="1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t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  – среднее число </a:t>
            </a:r>
            <a:r>
              <a:rPr b="0" lang="en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заявок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, обслуживаемых за единицу времени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i="1" lang="ru-RU" sz="1600" spc="-1" strike="noStrike">
                <a:solidFill>
                  <a:schemeClr val="dk1"/>
                </a:solidFill>
                <a:latin typeface="DejaVu Sans"/>
                <a:ea typeface="DejaVu Sans"/>
              </a:rPr>
              <a:t>α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Noto Sans CJK SC"/>
              </a:rPr>
              <a:t> = </a:t>
            </a:r>
            <a:r>
              <a:rPr b="0" i="1" lang="ru-RU" sz="1600" spc="-1" strike="noStrike">
                <a:solidFill>
                  <a:schemeClr val="dk1"/>
                </a:solidFill>
                <a:latin typeface="Symbol"/>
                <a:ea typeface="DejaVu Sans"/>
              </a:rPr>
              <a:t>λ</a:t>
            </a:r>
            <a:r>
              <a:rPr b="0" i="1" lang="ru-RU" sz="1600" spc="-1" strike="noStrike">
                <a:solidFill>
                  <a:schemeClr val="dk1"/>
                </a:solidFill>
                <a:latin typeface="Symbol"/>
                <a:ea typeface="Noto Sans CJK SC"/>
              </a:rPr>
              <a:t>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Noto Sans CJK SC"/>
              </a:rPr>
              <a:t>/</a:t>
            </a:r>
            <a:r>
              <a:rPr b="0" i="1" lang="ru-RU" sz="1600" spc="-1" strike="noStrike">
                <a:solidFill>
                  <a:schemeClr val="dk1"/>
                </a:solidFill>
                <a:latin typeface="Symbol"/>
                <a:ea typeface="Noto Sans CJK SC"/>
              </a:rPr>
              <a:t></a:t>
            </a:r>
            <a:r>
              <a:rPr b="0" i="1" lang="ru-RU" sz="1600" spc="-1" strike="noStrike">
                <a:solidFill>
                  <a:schemeClr val="dk1"/>
                </a:solidFill>
                <a:latin typeface="DejaVu Sans"/>
                <a:ea typeface="DejaVu Sans"/>
              </a:rPr>
              <a:t>μ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 –среднее число занятых каналов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r>
              <a:rPr b="0" i="1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n</a:t>
            </a:r>
            <a:r>
              <a:rPr b="0" lang="ru-RU" sz="1600" spc="-1" strike="noStrike">
                <a:solidFill>
                  <a:schemeClr val="dk1"/>
                </a:solidFill>
                <a:latin typeface="Golos Text"/>
                <a:ea typeface="DejaVu Sans"/>
              </a:rPr>
              <a:t> – общее число каналов</a:t>
            </a: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320"/>
              </a:spcBef>
              <a:tabLst>
                <a:tab algn="l" pos="0"/>
              </a:tabLst>
            </a:pPr>
            <a:endParaRPr b="0" lang="ru-RU" sz="1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01" name="Object 17"/>
          <p:cNvGraphicFramePr/>
          <p:nvPr/>
        </p:nvGraphicFramePr>
        <p:xfrm>
          <a:off x="1377360" y="3389040"/>
          <a:ext cx="1067760" cy="934200"/>
        </p:xfrm>
        <a:graphic>
          <a:graphicData uri="http://schemas.openxmlformats.org/presentationml/2006/ole">
            <p:oleObj r:id="rId1" spid="">
              <p:embed/>
              <p:pic>
                <p:nvPicPr>
                  <p:cNvPr id="202" name="Object 17" descr=""/>
                  <p:cNvPicPr/>
                  <p:nvPr/>
                </p:nvPicPr>
                <p:blipFill>
                  <a:blip r:embed="rId2"/>
                  <a:stretch/>
                </p:blipFill>
                <p:spPr>
                  <a:xfrm>
                    <a:off x="1377360" y="3389040"/>
                    <a:ext cx="1067760" cy="93420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graphicFrame>
        <p:nvGraphicFramePr>
          <p:cNvPr id="203" name="Object 18"/>
          <p:cNvGraphicFramePr/>
          <p:nvPr/>
        </p:nvGraphicFramePr>
        <p:xfrm>
          <a:off x="5263560" y="3582000"/>
          <a:ext cx="1884600" cy="508320"/>
        </p:xfrm>
        <a:graphic>
          <a:graphicData uri="http://schemas.openxmlformats.org/presentationml/2006/ole">
            <p:oleObj r:id="rId3" spid="">
              <p:embed/>
              <p:pic>
                <p:nvPicPr>
                  <p:cNvPr id="204" name="Object 18" descr=""/>
                  <p:cNvPicPr/>
                  <p:nvPr/>
                </p:nvPicPr>
                <p:blipFill>
                  <a:blip r:embed="rId4"/>
                  <a:stretch/>
                </p:blipFill>
                <p:spPr>
                  <a:xfrm>
                    <a:off x="5263560" y="3582000"/>
                    <a:ext cx="1884600" cy="50832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205" name="TextBox 4"/>
          <p:cNvSpPr/>
          <p:nvPr/>
        </p:nvSpPr>
        <p:spPr>
          <a:xfrm>
            <a:off x="624240" y="4633200"/>
            <a:ext cx="55076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Bef>
                <a:spcPts val="400"/>
              </a:spcBef>
            </a:pPr>
            <a:r>
              <a:rPr b="0" lang="ru-RU" sz="2000" spc="-1" strike="noStrike">
                <a:solidFill>
                  <a:srgbClr val="ff0000"/>
                </a:solidFill>
                <a:latin typeface="Calibri"/>
              </a:rPr>
              <a:t>Необходимое условие работоспособности СМО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206" name="Object 19"/>
          <p:cNvGraphicFramePr/>
          <p:nvPr/>
        </p:nvGraphicFramePr>
        <p:xfrm>
          <a:off x="6518160" y="4684680"/>
          <a:ext cx="840600" cy="338760"/>
        </p:xfrm>
        <a:graphic>
          <a:graphicData uri="http://schemas.openxmlformats.org/presentationml/2006/ole">
            <p:oleObj r:id="rId5" spid="">
              <p:embed/>
              <p:pic>
                <p:nvPicPr>
                  <p:cNvPr id="207" name="Object 19" descr=""/>
                  <p:cNvPicPr/>
                  <p:nvPr/>
                </p:nvPicPr>
                <p:blipFill>
                  <a:blip r:embed="rId6"/>
                  <a:stretch/>
                </p:blipFill>
                <p:spPr>
                  <a:xfrm>
                    <a:off x="6518160" y="4684680"/>
                    <a:ext cx="840600" cy="338760"/>
                  </a:xfrm>
                  <a:prstGeom prst="rect">
                    <a:avLst/>
                  </a:prstGeom>
                  <a:ln w="0">
                    <a:noFill/>
                  </a:ln>
                </p:spPr>
              </p:pic>
            </p:oleObj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377</TotalTime>
  <Application>LibreOffice/24.2.7.2$Linux_X86_64 LibreOffice_project/420$Build-2</Application>
  <AppVersion>15.0000</AppVersion>
  <Words>964</Words>
  <Paragraphs>173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2024-06-25T16:10:47Z</dcterms:created>
  <dc:creator>Sviatoslav Stumpf</dc:creator>
  <dc:description/>
  <dc:language>ru-RU</dc:language>
  <cp:lastModifiedBy/>
  <dcterms:modified xsi:type="dcterms:W3CDTF">2026-03-24T13:18:19Z</dcterms:modified>
  <cp:revision>12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(16:9)</vt:lpwstr>
  </property>
  <property fmtid="{D5CDD505-2E9C-101B-9397-08002B2CF9AE}" pid="3" name="Slides">
    <vt:i4>32</vt:i4>
  </property>
</Properties>
</file>