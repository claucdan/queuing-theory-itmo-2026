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_rels/presentation.xml.rels" ContentType="application/vnd.openxmlformats-package.relationships+xml"/>
  <Override PartName="/ppt/media/image29.wmf" ContentType="image/x-wmf"/>
  <Override PartName="/ppt/media/image27.wmf" ContentType="image/x-wmf"/>
  <Override PartName="/ppt/media/image24.jpeg" ContentType="image/jpeg"/>
  <Override PartName="/ppt/media/image2.jpeg" ContentType="image/jpeg"/>
  <Override PartName="/ppt/media/image20.png" ContentType="image/png"/>
  <Override PartName="/ppt/media/image22.png" ContentType="image/png"/>
  <Override PartName="/ppt/media/image21.png" ContentType="image/png"/>
  <Override PartName="/ppt/media/image19.jpeg" ContentType="image/jpeg"/>
  <Override PartName="/ppt/media/image26.png" ContentType="image/png"/>
  <Override PartName="/ppt/media/image23.gif" ContentType="image/gif"/>
  <Override PartName="/ppt/media/image18.jpeg" ContentType="image/jpeg"/>
  <Override PartName="/ppt/media/image33.wmf" ContentType="image/x-wmf"/>
  <Override PartName="/ppt/media/image13.jpeg" ContentType="image/jpeg"/>
  <Override PartName="/ppt/media/image9.jpeg" ContentType="image/jpeg"/>
  <Override PartName="/ppt/media/image12.jpeg" ContentType="image/jpeg"/>
  <Override PartName="/ppt/media/image30.wmf" ContentType="image/x-wmf"/>
  <Override PartName="/ppt/media/image6.jpeg" ContentType="image/jpeg"/>
  <Override PartName="/ppt/media/image8.jpeg" ContentType="image/jpeg"/>
  <Override PartName="/ppt/media/image11.jpeg" ContentType="image/jpeg"/>
  <Override PartName="/ppt/media/image32.wmf" ContentType="image/x-wmf"/>
  <Override PartName="/ppt/media/image34.wmf" ContentType="image/x-wmf"/>
  <Override PartName="/ppt/media/image35.wmf" ContentType="image/x-wmf"/>
  <Override PartName="/ppt/media/image28.wmf" ContentType="image/x-wmf"/>
  <Override PartName="/ppt/media/image3.jpeg" ContentType="image/jpeg"/>
  <Override PartName="/ppt/media/image36.wmf" ContentType="image/x-wmf"/>
  <Override PartName="/ppt/media/image17.jpeg" ContentType="image/jpeg"/>
  <Override PartName="/ppt/media/image37.wmf" ContentType="image/x-wmf"/>
  <Override PartName="/ppt/media/image39.wmf" ContentType="image/x-wmf"/>
  <Override PartName="/ppt/media/image40.wmf" ContentType="image/x-wmf"/>
  <Override PartName="/ppt/media/image10.jpeg" ContentType="image/jpeg"/>
  <Override PartName="/ppt/media/image7.jpeg" ContentType="image/jpeg"/>
  <Override PartName="/ppt/media/image31.wmf" ContentType="image/x-wmf"/>
  <Override PartName="/ppt/media/image5.jpeg" ContentType="image/jpeg"/>
  <Override PartName="/ppt/media/image38.wmf" ContentType="image/x-wmf"/>
  <Override PartName="/ppt/media/image4.jpeg" ContentType="image/jpeg"/>
  <Override PartName="/ppt/media/image25.png" ContentType="image/png"/>
  <Override PartName="/ppt/media/image1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6"/>
          <p:cNvSpPr/>
          <p:nvPr/>
        </p:nvSpPr>
        <p:spPr>
          <a:xfrm>
            <a:off x="5098320" y="54432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5910840" y="47448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1"/>
          <p:cNvSpPr/>
          <p:nvPr/>
        </p:nvSpPr>
        <p:spPr>
          <a:xfrm>
            <a:off x="5098320" y="54432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2"/>
          <p:cNvSpPr/>
          <p:nvPr/>
        </p:nvSpPr>
        <p:spPr>
          <a:xfrm>
            <a:off x="5910840" y="47448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структуры щёлкните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правки 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заглави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щёлкнит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Для правки </a:t>
            </a: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структуры </a:t>
            </a: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щёлкните </a:t>
            </a: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Второй </a:t>
            </a: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уровень </a:t>
            </a: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структуры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ffffff"/>
                </a:solidFill>
                <a:latin typeface="Arial"/>
              </a:rPr>
              <a:t>Третий </a:t>
            </a:r>
            <a:r>
              <a:rPr b="0" lang="ru-RU" sz="2400" spc="-1" strike="noStrike">
                <a:solidFill>
                  <a:srgbClr val="ffffff"/>
                </a:solidFill>
                <a:latin typeface="Arial"/>
              </a:rPr>
              <a:t>уровень </a:t>
            </a:r>
            <a:r>
              <a:rPr b="0" lang="ru-RU" sz="2400" spc="-1" strike="noStrike">
                <a:solidFill>
                  <a:srgbClr val="ffffff"/>
                </a:solidFill>
                <a:latin typeface="Arial"/>
              </a:rPr>
              <a:t>структуры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Четвёрт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ый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структур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Пят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ый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уров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ень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стру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ктур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Ш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е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о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й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о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в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е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н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ь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к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е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д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ь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м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о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й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о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в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е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н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ь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к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т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у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р</a:t>
            </a: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структуры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дь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мо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вен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укт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3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-865080" y="4593240"/>
            <a:ext cx="183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gif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27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8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29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30.wmf"/><Relationship Id="rId10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8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29.wmf"/><Relationship Id="rId7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2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3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34.wmf"/><Relationship Id="rId7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37.wmf"/><Relationship Id="rId7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9.wmf"/><Relationship Id="rId5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0.wmf"/><Relationship Id="rId3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371600" y="3080880"/>
            <a:ext cx="6400080" cy="7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Основ</a:t>
            </a: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ы </a:t>
            </a: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теории </a:t>
            </a: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массов</a:t>
            </a: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ого</a:t>
            </a:r>
            <a:r>
              <a:rPr b="1" lang="en-RU" sz="4400" spc="-1" strike="noStrike">
                <a:solidFill>
                  <a:schemeClr val="lt1"/>
                </a:solidFill>
                <a:latin typeface="Golos Text DemiBold"/>
              </a:rPr>
              <a:t> </a:t>
            </a: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обслуж</a:t>
            </a: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ивания</a:t>
            </a: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Система массового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обслуживания (СМО)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 2" descr="A sloth in a shirt and tie&#10;&#10;Description automatically generated"/>
          <p:cNvPicPr/>
          <p:nvPr/>
        </p:nvPicPr>
        <p:blipFill>
          <a:blip r:embed="rId1"/>
          <a:stretch/>
        </p:blipFill>
        <p:spPr>
          <a:xfrm>
            <a:off x="1850760" y="1254600"/>
            <a:ext cx="5074920" cy="39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624240" y="1370520"/>
            <a:ext cx="7169400" cy="37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Почта / доктор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Доставка / интернет-магазины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Экзамены / зачеты / конкурсы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Телекоммуникационные сети / сервисы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Виртуальные вычислительные мощности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Нейронки, которые что-то генерируют по заказу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Регистрация на рейс (да и вообще путешествия)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Кафе / рестораны / гостиницы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Пробка на дороге…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Где мы встречаемся с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"/>
          <p:cNvSpPr/>
          <p:nvPr/>
        </p:nvSpPr>
        <p:spPr>
          <a:xfrm>
            <a:off x="5640120" y="4114800"/>
            <a:ext cx="28789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RU" sz="2400" spc="-1" strike="noStrike">
                <a:solidFill>
                  <a:schemeClr val="dk1"/>
                </a:solidFill>
                <a:latin typeface="Calibri"/>
              </a:rPr>
              <a:t>Где мы с ними не встречаемся?..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RU" sz="3000" spc="-1" strike="noStrike">
                <a:solidFill>
                  <a:schemeClr val="dk1"/>
                </a:solidFill>
                <a:latin typeface="Golos Text DemiBold"/>
              </a:rPr>
              <a:t>В чем проблема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346400"/>
            <a:ext cx="4937040" cy="38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9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Заявки на обслуживание поступают. </a:t>
            </a:r>
            <a:br>
              <a:rPr sz="1700"/>
            </a:b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	</a:t>
            </a: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Их нужно обслужить. 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i="1" lang="en-RU" sz="1700" spc="-1" strike="noStrike">
                <a:solidFill>
                  <a:schemeClr val="dk1"/>
                </a:solidFill>
                <a:latin typeface="Golos Text"/>
              </a:rPr>
              <a:t>А если не справляемся?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90000"/>
              </a:lnSpc>
              <a:spcBef>
                <a:spcPts val="340"/>
              </a:spcBef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Предусмотрим больше зон ожидания?..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90000"/>
              </a:lnSpc>
              <a:spcBef>
                <a:spcPts val="340"/>
              </a:spcBef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Будем отказывать в обслуживании?..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90000"/>
              </a:lnSpc>
              <a:spcBef>
                <a:spcPts val="340"/>
              </a:spcBef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Обойдутся?.. 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90000"/>
              </a:lnSpc>
              <a:spcBef>
                <a:spcPts val="340"/>
              </a:spcBef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Увеличим мощность?..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90000"/>
              </a:lnSpc>
              <a:spcBef>
                <a:spcPts val="340"/>
              </a:spcBef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… </a:t>
            </a:r>
            <a:r>
              <a:rPr b="0" lang="en-RU" sz="1700" spc="-1" strike="noStrike">
                <a:solidFill>
                  <a:schemeClr val="dk1"/>
                </a:solidFill>
                <a:latin typeface="Golos Text"/>
              </a:rPr>
              <a:t>до каких значений?..  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Picture 2" descr="A yellow emoji with a finger on it&#10;&#10;Description automatically generated"/>
          <p:cNvPicPr/>
          <p:nvPr/>
        </p:nvPicPr>
        <p:blipFill>
          <a:blip r:embed="rId1"/>
          <a:srcRect l="0" t="0" r="-6" b="5256"/>
          <a:stretch/>
        </p:blipFill>
        <p:spPr>
          <a:xfrm>
            <a:off x="5394960" y="1714320"/>
            <a:ext cx="2938320" cy="309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icture 2"/>
          <p:cNvSpPr/>
          <p:nvPr/>
        </p:nvSpPr>
        <p:spPr>
          <a:xfrm>
            <a:off x="457200" y="1040400"/>
            <a:ext cx="4607640" cy="4268160"/>
          </a:xfrm>
          <a:prstGeom prst="roundRect">
            <a:avLst>
              <a:gd name="adj" fmla="val 7784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29136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RU" sz="3000" spc="-1" strike="noStrike">
                <a:solidFill>
                  <a:schemeClr val="dk1"/>
                </a:solidFill>
                <a:latin typeface="Golos Text DemiBold"/>
              </a:rPr>
              <a:t>Ключевая проблема СМО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394240" y="1485000"/>
            <a:ext cx="3291840" cy="360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Заявки приходят так, как приходят… 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… </a:t>
            </a: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и еще и неравномерно…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… </a:t>
            </a: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чтобы гарантированно все обслужить… 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… </a:t>
            </a:r>
            <a:r>
              <a:rPr b="0" lang="en-US" sz="1700" spc="-1" strike="noStrike">
                <a:solidFill>
                  <a:schemeClr val="dk1"/>
                </a:solidFill>
                <a:latin typeface="Golos Text"/>
              </a:rPr>
              <a:t>нужны очень большие возможности.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Golos Text"/>
              </a:rPr>
              <a:t>Можно не потянуть.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RU" sz="3000" spc="-1" strike="noStrike">
                <a:solidFill>
                  <a:schemeClr val="dk1"/>
                </a:solidFill>
                <a:latin typeface="Golos Text DemiBold"/>
              </a:rPr>
              <a:t>Вероятностный характер СМО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700200" y="1527120"/>
            <a:ext cx="7764120" cy="34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Детерминированная математическая модель 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отражает поведение объекта (системы, процесса) с позиций </a:t>
            </a: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полной определенности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в настоящем и будущем.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Вероятностная математическая модель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учитывает влияние случайных факторов на поведение объекта (системы, процесса) и, следовательно, оценивает будущее с позиций вероятности тех или иных событий, т.е. здесь задачи рассматриваются </a:t>
            </a: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в условиях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</a:t>
            </a: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неопределенности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000" spc="-1" strike="noStrike">
                <a:solidFill>
                  <a:schemeClr val="dk1"/>
                </a:solidFill>
                <a:latin typeface="Golos Text DemiBold"/>
              </a:rPr>
              <a:t>Понятие случайного процесса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89760" y="1749960"/>
            <a:ext cx="7764120" cy="34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Случайный процесс - 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процесс, протекающий в системе</a:t>
            </a:r>
            <a:r>
              <a:rPr b="0" i="1" lang="ru-RU" sz="2000" spc="-1" strike="noStrike">
                <a:solidFill>
                  <a:schemeClr val="dk1"/>
                </a:solidFill>
                <a:latin typeface="Golos Text"/>
              </a:rPr>
              <a:t>,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которая с течением времени меняет свое состояние (переходит из одного состояния в другое), причем, заранее неизвестным </a:t>
            </a: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случайным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образом.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119"/>
              </a:spcBef>
              <a:buNone/>
              <a:tabLst>
                <a:tab algn="l" pos="0"/>
              </a:tabLst>
            </a:pP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Системой может быть: устройство, группа устройств, технологическая система</a:t>
            </a:r>
            <a:r>
              <a:rPr b="0" lang="en-RU" sz="2000" spc="-1" strike="noStrike">
                <a:solidFill>
                  <a:schemeClr val="dk1"/>
                </a:solidFill>
                <a:latin typeface="Golos Text"/>
              </a:rPr>
              <a:t>, организация, группа взаимодействующих организаций.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Объекты моделирования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9760" y="1749960"/>
            <a:ext cx="7764120" cy="34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Случайный процесс - 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процесс, протекающий в системе</a:t>
            </a:r>
            <a:r>
              <a:rPr b="0" i="1" lang="ru-RU" sz="2000" spc="-1" strike="noStrike">
                <a:solidFill>
                  <a:schemeClr val="dk1"/>
                </a:solidFill>
                <a:latin typeface="Golos Text"/>
              </a:rPr>
              <a:t>,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которая с течением времени меняет свое состояние (переходит из одного состояния в другое), причем, заранее неизвестным </a:t>
            </a:r>
            <a:r>
              <a:rPr b="1" lang="ru-RU" sz="2000" spc="-1" strike="noStrike">
                <a:solidFill>
                  <a:schemeClr val="dk1"/>
                </a:solidFill>
                <a:latin typeface="Golos Text"/>
              </a:rPr>
              <a:t>случайным</a:t>
            </a: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 образом.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"/>
              </a:spcBef>
              <a:buNone/>
              <a:tabLst>
                <a:tab algn="l" pos="0"/>
              </a:tabLst>
            </a:pP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Golos Text"/>
              </a:rPr>
              <a:t>Системой может быть: устройство, группа устройств, технологическая система</a:t>
            </a:r>
            <a:r>
              <a:rPr b="0" lang="en-RU" sz="2000" spc="-1" strike="noStrike">
                <a:solidFill>
                  <a:schemeClr val="dk1"/>
                </a:solidFill>
                <a:latin typeface="Golos Text"/>
              </a:rPr>
              <a:t>, организация, группа взаимодействующих организаций.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Таблица 2"/>
          <p:cNvGraphicFramePr/>
          <p:nvPr/>
        </p:nvGraphicFramePr>
        <p:xfrm>
          <a:off x="545400" y="1285200"/>
          <a:ext cx="8163360" cy="3873600"/>
        </p:xfrm>
        <a:graphic>
          <a:graphicData uri="http://schemas.openxmlformats.org/drawingml/2006/table">
            <a:tbl>
              <a:tblPr/>
              <a:tblGrid>
                <a:gridCol w="2381040"/>
                <a:gridCol w="2880000"/>
                <a:gridCol w="2902680"/>
              </a:tblGrid>
              <a:tr h="466920">
                <a:tc>
                  <a:txBody>
                    <a:bodyPr lIns="68400" rIns="684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0b43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Дискретные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0b43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Непрерывные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0b43"/>
                    </a:solidFill>
                  </a:tcPr>
                </a:tc>
              </a:tr>
              <a:tr h="1526760">
                <a:tc>
                  <a:txBody>
                    <a:bodyPr lIns="68400" rIns="684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Детерминированные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ccce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Число состояний системы </a:t>
                      </a: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конечно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Переходы строго </a:t>
                      </a: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определены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ccce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Число состояний </a:t>
                      </a: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бесконечно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Динамика</a:t>
                      </a: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параметров строго определена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ccce"/>
                    </a:solidFill>
                  </a:tcPr>
                </a:tc>
              </a:tr>
              <a:tr h="1879920">
                <a:tc>
                  <a:txBody>
                    <a:bodyPr lIns="68400" rIns="684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Стохастические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Число состояний системы конечно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Переходы определены некоторым </a:t>
                      </a: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случайным законом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Число состояний бесконечно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4572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Динамика параметров задается </a:t>
                      </a: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случайными функциями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e7e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Потоки событий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684000" y="1791000"/>
            <a:ext cx="7483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Поток событий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– последовательность однородных событий, следующих одно за другим в какие-то случайные моменты времени.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endParaRPr b="0" lang="ru-RU" sz="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Интенсивность потока событий</a:t>
            </a:r>
            <a:r>
              <a:rPr b="1" lang="en-RU" sz="1600" spc="-1" strike="noStrike">
                <a:solidFill>
                  <a:schemeClr val="dk1"/>
                </a:solidFill>
                <a:latin typeface="Arial"/>
              </a:rPr>
              <a:t> ()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– это среднее число событий, приходящееся на единицу времени.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12" descr="A diagram of a diagram&#10;&#10;Description automatically generated"/>
          <p:cNvPicPr/>
          <p:nvPr/>
        </p:nvPicPr>
        <p:blipFill>
          <a:blip r:embed="rId1"/>
          <a:stretch/>
        </p:blipFill>
        <p:spPr>
          <a:xfrm>
            <a:off x="1636560" y="3305880"/>
            <a:ext cx="5147280" cy="181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22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Свойства (виды) потоков событий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828000" y="1404000"/>
            <a:ext cx="7236000" cy="37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Стационарный поток событий -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если его вероятностные характеристики не зависят от времени</a:t>
            </a:r>
            <a:r>
              <a:rPr b="0" lang="en-RU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Поток событий без последствий -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если для любых двух непересекающихся участков времени число событий, попадающих на один из них, не зависит от того, сколько событий попало на другой</a:t>
            </a:r>
            <a:r>
              <a:rPr b="0" lang="en-RU" sz="1600" spc="-1" strike="noStrike">
                <a:solidFill>
                  <a:schemeClr val="dk1"/>
                </a:solidFill>
                <a:latin typeface="Arial"/>
              </a:rPr>
              <a:t>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Ординарный поток событий -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если события в нем появляются поодиночке, а не группами по нескольку сразу.</a:t>
            </a:r>
            <a:br>
              <a:rPr sz="1600"/>
            </a:b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Простейший (стационарный пуассоновский) поток событий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обладает сразу тремя свойствами: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15000"/>
              </a:lnSpc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1) стационарен, 2) ординарен, 3) не имеет последствий.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624240" y="1228320"/>
            <a:ext cx="7655760" cy="38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Предмет теории массового обслуживания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– построение математических моделей, связывающих заданные условия работы СМО (число каналов, их производительность, правила работы, характер потока заявок) с интересующими нас характеристиками – показателями эффективности СМО.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Эти показатели описывают способность СМО справляться с потоком заявок.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RU" sz="1800" spc="-1" strike="noStrike">
                <a:solidFill>
                  <a:schemeClr val="dk1"/>
                </a:solidFill>
                <a:latin typeface="Arial"/>
              </a:rPr>
              <a:t>Цель расчета показателей СМО: обеспечить </a:t>
            </a:r>
            <a:r>
              <a:rPr b="1" lang="en-RU" sz="1800" spc="-1" strike="noStrike">
                <a:solidFill>
                  <a:schemeClr val="accent1"/>
                </a:solidFill>
                <a:latin typeface="Arial"/>
              </a:rPr>
              <a:t>баланс</a:t>
            </a:r>
            <a:r>
              <a:rPr b="1" lang="en-RU" sz="1800" spc="-1" strike="noStrike">
                <a:solidFill>
                  <a:schemeClr val="dk1"/>
                </a:solidFill>
                <a:latin typeface="Arial"/>
              </a:rPr>
              <a:t> между экономическими характеристиками и качеством обслуживания.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lt1"/>
                </a:solidFill>
                <a:latin typeface="Golos Text DemiBold"/>
              </a:rPr>
              <a:t>Теория массового обслуживания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624240" y="1584360"/>
            <a:ext cx="4351680" cy="37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5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Каждая СМО состоит из какого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-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то количества обслуживающих единиц, которые называются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каналами обслуживания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(станки, транспортные тележки, роботы, продавцы и т.д.).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Всякая СМО предназначена для обслуживания какого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-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то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потока 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(требований), поступающих в какие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-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то случайные моменты времени.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000" spc="-1" strike="noStrike">
                <a:solidFill>
                  <a:schemeClr val="lt1"/>
                </a:solidFill>
                <a:latin typeface="Golos Text DemiBold"/>
              </a:rPr>
              <a:t>Система массового обслуживания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6" descr="A group of people walking on a snowy mountain&#10;&#10;Description automatically generated"/>
          <p:cNvPicPr/>
          <p:nvPr/>
        </p:nvPicPr>
        <p:blipFill>
          <a:blip r:embed="rId1"/>
          <a:stretch/>
        </p:blipFill>
        <p:spPr>
          <a:xfrm>
            <a:off x="5187960" y="2094480"/>
            <a:ext cx="3331080" cy="207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3592800" y="1690200"/>
            <a:ext cx="4741200" cy="346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Процесс работы СМО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– случайный процесс с дискретными состояниями и непрерывным временем.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5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Состояние СМО меняется скачком в моменты появления каких</a:t>
            </a: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-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то событий</a:t>
            </a: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: 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прихода новой заявки, окончания обслуживания, момента, когда заявка, которой надоело ждать, покидает очередь</a:t>
            </a: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.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..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22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lt1"/>
                </a:solidFill>
                <a:latin typeface="Golos Text DemiBold"/>
              </a:rPr>
              <a:t>Система массового обслуживания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2" descr="A cartoon of animals in a row&#10;&#10;Description automatically generated"/>
          <p:cNvPicPr/>
          <p:nvPr/>
        </p:nvPicPr>
        <p:blipFill>
          <a:blip r:embed="rId1"/>
          <a:stretch/>
        </p:blipFill>
        <p:spPr>
          <a:xfrm>
            <a:off x="457200" y="1690200"/>
            <a:ext cx="2858040" cy="319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Классификация </a:t>
            </a: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7200" y="1350360"/>
            <a:ext cx="5005440" cy="23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457200">
              <a:lnSpc>
                <a:spcPct val="9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СМО с отказами: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заявка, поступившая в момент, когда все каналы заняты, получает отказ, покидает СМО и в дальнейшем не обслуживается.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9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9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СМО с очередью: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заявка, пришедшая в момент, когда все каналы заняты, не уходит, а становится в очередь и ожидает возможности быть обслуженной.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5220000" y="3398760"/>
            <a:ext cx="32400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RU" sz="1800" spc="-1" strike="noStrike">
                <a:solidFill>
                  <a:schemeClr val="dk1"/>
                </a:solidFill>
                <a:latin typeface="Calibri"/>
              </a:rPr>
              <a:t>По принципу организации очереди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: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ограничена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не ограничена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RU" sz="1800" spc="-1" strike="noStrike">
                <a:solidFill>
                  <a:schemeClr val="dk1"/>
                </a:solidFill>
                <a:latin typeface="Calibri"/>
              </a:rPr>
              <a:t>с приоритетным каналом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Классификация </a:t>
            </a: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518760" y="1352160"/>
            <a:ext cx="70570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Открытые СМО: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характеристики потока заявок не зависят от того, в каком состоянии сама СМО (сколько каналов занято).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Замкнутые СМО: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характеристики потока заявок зависят от</a:t>
            </a:r>
            <a:r>
              <a:rPr b="0" lang="en-RU" sz="1800" spc="-1" strike="noStrike">
                <a:solidFill>
                  <a:schemeClr val="dk1"/>
                </a:solidFill>
                <a:latin typeface="Calibri"/>
              </a:rPr>
              <a:t> состояния СМО.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2983680" y="3500280"/>
            <a:ext cx="5549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RU" sz="1800" spc="-1" strike="noStrike">
                <a:solidFill>
                  <a:schemeClr val="dk1"/>
                </a:solidFill>
                <a:latin typeface="Calibri"/>
              </a:rPr>
              <a:t>Особенности поведения заявок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: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RU" sz="1800" spc="-1" strike="noStrike">
                <a:solidFill>
                  <a:schemeClr val="dk1"/>
                </a:solidFill>
                <a:latin typeface="Calibri"/>
              </a:rPr>
              <a:t>нетерпеливые (ждут фиксированное время)</a:t>
            </a:r>
            <a:r>
              <a:rPr b="1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RU" sz="1800" spc="-1" strike="noStrike">
                <a:solidFill>
                  <a:schemeClr val="dk1"/>
                </a:solidFill>
                <a:latin typeface="Calibri"/>
              </a:rPr>
              <a:t>настойчивые (встают в очередь после отказа)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RU" sz="1800" spc="-1" strike="noStrike">
                <a:solidFill>
                  <a:schemeClr val="dk1"/>
                </a:solidFill>
                <a:latin typeface="Calibri"/>
              </a:rPr>
              <a:t>конфликтные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Одноканальная СМО с отказами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6" descr=""/>
          <p:cNvPicPr/>
          <p:nvPr/>
        </p:nvPicPr>
        <p:blipFill>
          <a:blip r:embed="rId1"/>
          <a:stretch/>
        </p:blipFill>
        <p:spPr>
          <a:xfrm>
            <a:off x="6301800" y="2538360"/>
            <a:ext cx="2267280" cy="1707480"/>
          </a:xfrm>
          <a:prstGeom prst="rect">
            <a:avLst/>
          </a:prstGeom>
          <a:ln w="0">
            <a:noFill/>
          </a:ln>
        </p:spPr>
      </p:pic>
      <p:sp>
        <p:nvSpPr>
          <p:cNvPr id="102" name="Rectangle 3"/>
          <p:cNvSpPr/>
          <p:nvPr/>
        </p:nvSpPr>
        <p:spPr>
          <a:xfrm>
            <a:off x="523080" y="1800000"/>
            <a:ext cx="6496560" cy="27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Абсолютная пропускная способность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(среднее число заявок, обслуживаемых в единицу времени):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en-US" sz="2100" spc="-1" strike="noStrike">
                <a:solidFill>
                  <a:schemeClr val="dk1"/>
                </a:solidFill>
                <a:latin typeface="Golos Text"/>
              </a:rPr>
              <a:t>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где     - интенсивность потока заявок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        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- интенсивность потока обслуживания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3" name="Object 5"/>
          <p:cNvGraphicFramePr/>
          <p:nvPr/>
        </p:nvGraphicFramePr>
        <p:xfrm>
          <a:off x="1980000" y="2772000"/>
          <a:ext cx="1158840" cy="866880"/>
        </p:xfrm>
        <a:graphic>
          <a:graphicData uri="http://schemas.openxmlformats.org/presentationml/2006/ole">
            <p:oleObj progId="Equation.3" r:id="rId2" spid="">
              <p:embed/>
              <p:pic>
                <p:nvPicPr>
                  <p:cNvPr id="104" name="Object 5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980000" y="2772000"/>
                    <a:ext cx="1158840" cy="8668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5" name="Object 9"/>
          <p:cNvGraphicFramePr/>
          <p:nvPr/>
        </p:nvGraphicFramePr>
        <p:xfrm>
          <a:off x="1339920" y="3539160"/>
          <a:ext cx="308880" cy="479520"/>
        </p:xfrm>
        <a:graphic>
          <a:graphicData uri="http://schemas.openxmlformats.org/presentationml/2006/ole">
            <p:oleObj progId="Equation.3" r:id="rId4" spid="">
              <p:embed/>
              <p:pic>
                <p:nvPicPr>
                  <p:cNvPr id="106" name="Object 9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339920" y="3539160"/>
                    <a:ext cx="308880" cy="4795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7" name="Object 10"/>
          <p:cNvGraphicFramePr/>
          <p:nvPr/>
        </p:nvGraphicFramePr>
        <p:xfrm>
          <a:off x="1260000" y="4009320"/>
          <a:ext cx="348120" cy="418320"/>
        </p:xfrm>
        <a:graphic>
          <a:graphicData uri="http://schemas.openxmlformats.org/presentationml/2006/ole">
            <p:oleObj progId="Equation.3" r:id="rId6" spid="">
              <p:embed/>
              <p:pic>
                <p:nvPicPr>
                  <p:cNvPr id="108" name="Object 10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1260000" y="4009320"/>
                    <a:ext cx="348120" cy="4183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9" name="Object 11"/>
          <p:cNvGraphicFramePr/>
          <p:nvPr/>
        </p:nvGraphicFramePr>
        <p:xfrm>
          <a:off x="3249000" y="2952000"/>
          <a:ext cx="2267280" cy="442440"/>
        </p:xfrm>
        <a:graphic>
          <a:graphicData uri="http://schemas.openxmlformats.org/presentationml/2006/ole">
            <p:oleObj progId="Equation.3" r:id="rId8" spid="">
              <p:embed/>
              <p:pic>
                <p:nvPicPr>
                  <p:cNvPr id="110" name="Object 11" descr=""/>
                  <p:cNvPicPr/>
                  <p:nvPr/>
                </p:nvPicPr>
                <p:blipFill>
                  <a:blip r:embed="rId9"/>
                  <a:stretch/>
                </p:blipFill>
                <p:spPr>
                  <a:xfrm>
                    <a:off x="3249000" y="2952000"/>
                    <a:ext cx="2267280" cy="4424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1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6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17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2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2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25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3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31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2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3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Одноканальная СМО с отказами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1080000" y="1440000"/>
            <a:ext cx="6388200" cy="34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Относительная пропускная способность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(средняя доля заявок, обслуживаемых системой):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где     - интенсивность потока заявок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        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- интенсивность потока обслуживаний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3" name="Object 5"/>
          <p:cNvGraphicFramePr/>
          <p:nvPr/>
        </p:nvGraphicFramePr>
        <p:xfrm>
          <a:off x="3239640" y="2192760"/>
          <a:ext cx="1450800" cy="10033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114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239640" y="2192760"/>
                    <a:ext cx="1450800" cy="10033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15" name="Object 7"/>
          <p:cNvGraphicFramePr/>
          <p:nvPr/>
        </p:nvGraphicFramePr>
        <p:xfrm>
          <a:off x="1888560" y="3280680"/>
          <a:ext cx="287280" cy="44640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116" name="Object 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888560" y="3280680"/>
                    <a:ext cx="287280" cy="4464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17" name="Object 9"/>
          <p:cNvGraphicFramePr/>
          <p:nvPr/>
        </p:nvGraphicFramePr>
        <p:xfrm>
          <a:off x="1837800" y="3789000"/>
          <a:ext cx="348120" cy="418320"/>
        </p:xfrm>
        <a:graphic>
          <a:graphicData uri="http://schemas.openxmlformats.org/presentationml/2006/ole">
            <p:oleObj progId="Equation.3" r:id="rId5" spid="">
              <p:embed/>
              <p:pic>
                <p:nvPicPr>
                  <p:cNvPr id="118" name="Objec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1837800" y="3789000"/>
                    <a:ext cx="348120" cy="4183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" dur="indefinite" restart="never" nodeType="tmRoot">
          <p:childTnLst>
            <p:seq>
              <p:cTn id="35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0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5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50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380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Одноканальная СМО с отказами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1170720" y="1424880"/>
            <a:ext cx="6055920" cy="34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Вероятность отказа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(вероятность того, что заявка покинет СМО необслуженной):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 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                       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" name="Object 5"/>
          <p:cNvGraphicFramePr/>
          <p:nvPr/>
        </p:nvGraphicFramePr>
        <p:xfrm>
          <a:off x="3240720" y="2444400"/>
          <a:ext cx="1916280" cy="106416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122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240720" y="2444400"/>
                    <a:ext cx="1916280" cy="10641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3" name="Object 7"/>
          <p:cNvGraphicFramePr/>
          <p:nvPr/>
        </p:nvGraphicFramePr>
        <p:xfrm>
          <a:off x="3708360" y="3600000"/>
          <a:ext cx="1511280" cy="52992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124" name="Object 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708360" y="3600000"/>
                    <a:ext cx="1511280" cy="529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5" name="Object 10"/>
          <p:cNvGraphicFramePr/>
          <p:nvPr/>
        </p:nvGraphicFramePr>
        <p:xfrm>
          <a:off x="1620000" y="3600000"/>
          <a:ext cx="1430280" cy="520560"/>
        </p:xfrm>
        <a:graphic>
          <a:graphicData uri="http://schemas.openxmlformats.org/presentationml/2006/ole">
            <p:oleObj progId="Equation.3" r:id="rId5" spid="">
              <p:embed/>
              <p:pic>
                <p:nvPicPr>
                  <p:cNvPr id="126" name="Object 10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1620000" y="3600000"/>
                    <a:ext cx="1430280" cy="520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" dur="500"/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" dur="500"/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838656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1666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N</a:t>
            </a: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-</a:t>
            </a: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канальная СМО с отказами </a:t>
            </a:r>
            <a:br>
              <a:rPr sz="3200"/>
            </a:br>
            <a:r>
              <a:rPr b="1" lang="ru-RU" sz="2000" spc="-1" strike="noStrike">
                <a:solidFill>
                  <a:schemeClr val="dk1"/>
                </a:solidFill>
                <a:latin typeface="Golos Text DemiBold"/>
              </a:rPr>
              <a:t>(задача Эрланга)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1516680" y="1544400"/>
            <a:ext cx="6942960" cy="36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Абсолютная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</a:t>
            </a: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пропускная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</a:t>
            </a: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способность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где        - количество каналов СМО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                </a:t>
            </a:r>
            <a:r>
              <a:rPr b="0" lang="ru-RU" sz="2100" spc="-1" strike="noStrike">
                <a:solidFill>
                  <a:schemeClr val="dk1"/>
                </a:solidFill>
                <a:latin typeface="Golos Text"/>
              </a:rPr>
              <a:t>- вероятность нахождения СМО в начальном состоянии, когда все каналы свободны. 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9" name="Object 5"/>
          <p:cNvGraphicFramePr/>
          <p:nvPr/>
        </p:nvGraphicFramePr>
        <p:xfrm>
          <a:off x="2749320" y="2034000"/>
          <a:ext cx="4299840" cy="10771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130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749320" y="2034000"/>
                    <a:ext cx="4299840" cy="10771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31" name="Object 7"/>
          <p:cNvGraphicFramePr/>
          <p:nvPr/>
        </p:nvGraphicFramePr>
        <p:xfrm>
          <a:off x="2340000" y="3096360"/>
          <a:ext cx="293400" cy="35928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132" name="Object 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340000" y="3096360"/>
                    <a:ext cx="293400" cy="3592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33" name="Object 9"/>
          <p:cNvGraphicFramePr/>
          <p:nvPr/>
        </p:nvGraphicFramePr>
        <p:xfrm>
          <a:off x="2324160" y="3349080"/>
          <a:ext cx="386280" cy="514080"/>
        </p:xfrm>
        <a:graphic>
          <a:graphicData uri="http://schemas.openxmlformats.org/presentationml/2006/ole">
            <p:oleObj progId="Equation.3" r:id="rId5" spid="">
              <p:embed/>
              <p:pic>
                <p:nvPicPr>
                  <p:cNvPr id="134" name="Objec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2324160" y="3349080"/>
                    <a:ext cx="386280" cy="514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5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8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5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" dur="500" fill="hold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" dur="500" fill="hold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" dur="500" fill="hold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" dur="500" fill="hold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5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838656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1666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N</a:t>
            </a: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-</a:t>
            </a: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канальная СМО с отказами </a:t>
            </a:r>
            <a:br>
              <a:rPr sz="3200"/>
            </a:br>
            <a:r>
              <a:rPr b="1" lang="ru-RU" sz="2000" spc="-1" strike="noStrike">
                <a:solidFill>
                  <a:schemeClr val="dk1"/>
                </a:solidFill>
                <a:latin typeface="Golos Text DemiBold"/>
              </a:rPr>
              <a:t>(задача Эрланга)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1600920" y="1536840"/>
            <a:ext cx="615600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Относительная пропускная способность: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Вероятность отказа: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7" name="Object 5"/>
          <p:cNvGraphicFramePr/>
          <p:nvPr/>
        </p:nvGraphicFramePr>
        <p:xfrm>
          <a:off x="3656880" y="2008800"/>
          <a:ext cx="1772280" cy="95976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138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656880" y="2008800"/>
                    <a:ext cx="1772280" cy="9597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39" name="Object 7"/>
          <p:cNvGraphicFramePr/>
          <p:nvPr/>
        </p:nvGraphicFramePr>
        <p:xfrm>
          <a:off x="3577320" y="3688560"/>
          <a:ext cx="1772280" cy="95976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140" name="Object 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577320" y="3688560"/>
                    <a:ext cx="1772280" cy="9597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" dur="500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838656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1666"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N</a:t>
            </a: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-</a:t>
            </a:r>
            <a:r>
              <a:rPr b="1" lang="ru-RU" sz="3200" spc="-1" strike="noStrike">
                <a:solidFill>
                  <a:schemeClr val="dk1"/>
                </a:solidFill>
                <a:latin typeface="Golos Text DemiBold"/>
              </a:rPr>
              <a:t>канальная СМО с отказами </a:t>
            </a:r>
            <a:br>
              <a:rPr sz="3200"/>
            </a:br>
            <a:r>
              <a:rPr b="1" lang="ru-RU" sz="2000" spc="-1" strike="noStrike">
                <a:solidFill>
                  <a:schemeClr val="dk1"/>
                </a:solidFill>
                <a:latin typeface="Golos Text DemiBold"/>
              </a:rPr>
              <a:t>(задача Эрланга)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1486080" y="1587240"/>
            <a:ext cx="6055920" cy="34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Golos Text"/>
              </a:rPr>
              <a:t>Среднее число занятых каналов (среднее число заявок, обслуживаемых одновременно):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3" name="Object 4"/>
          <p:cNvGraphicFramePr/>
          <p:nvPr/>
        </p:nvGraphicFramePr>
        <p:xfrm>
          <a:off x="3218400" y="3036960"/>
          <a:ext cx="2650680" cy="12823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144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218400" y="3036960"/>
                    <a:ext cx="2650680" cy="12823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371</TotalTime>
  <Application>LibreOffice/24.2.6.2$Linux_X86_64 LibreOffice_project/420$Build-2</Application>
  <AppVersion>15.0000</AppVersion>
  <Words>964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2024-06-25T16:10:47Z</dcterms:created>
  <dc:creator>Sviatoslav Stumpf</dc:creator>
  <dc:description/>
  <dc:language>ru-RU</dc:language>
  <cp:lastModifiedBy/>
  <dcterms:modified xsi:type="dcterms:W3CDTF">2025-03-04T18:07:18Z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32</vt:i4>
  </property>
</Properties>
</file>