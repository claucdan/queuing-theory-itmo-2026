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7.png" ContentType="image/png"/>
  <Override PartName="/ppt/media/image24.png" ContentType="image/png"/>
  <Override PartName="/ppt/media/image22.png" ContentType="image/png"/>
  <Override PartName="/ppt/media/image21.png" ContentType="image/png"/>
  <Override PartName="/ppt/media/image19.jpeg" ContentType="image/jpeg"/>
  <Override PartName="/ppt/media/image26.png" ContentType="image/png"/>
  <Override PartName="/ppt/media/image18.jpeg" ContentType="image/jpeg"/>
  <Override PartName="/ppt/media/image17.jpeg" ContentType="image/jpeg"/>
  <Override PartName="/ppt/media/image33.png" ContentType="image/png"/>
  <Override PartName="/ppt/media/image16.jpeg" ContentType="image/jpeg"/>
  <Override PartName="/ppt/media/image23.png" ContentType="image/png"/>
  <Override PartName="/ppt/media/image9.jpeg" ContentType="image/jpeg"/>
  <Override PartName="/ppt/media/image12.jpeg" ContentType="image/jpeg"/>
  <Override PartName="/ppt/media/image38.png" ContentType="image/png"/>
  <Override PartName="/ppt/media/image8.jpeg" ContentType="image/jpeg"/>
  <Override PartName="/ppt/media/image11.jpeg" ContentType="image/jpeg"/>
  <Override PartName="/ppt/media/image13.jpeg" ContentType="image/jpeg"/>
  <Override PartName="/ppt/media/image31.png" ContentType="image/png"/>
  <Override PartName="/ppt/media/image32.png" ContentType="image/png"/>
  <Override PartName="/ppt/media/image1.jpeg" ContentType="image/jpeg"/>
  <Override PartName="/ppt/media/image34.png" ContentType="image/png"/>
  <Override PartName="/ppt/media/image35.png" ContentType="image/png"/>
  <Override PartName="/ppt/media/image5.jpeg" ContentType="image/jpeg"/>
  <Override PartName="/ppt/media/image36.png" ContentType="image/png"/>
  <Override PartName="/ppt/media/image37.png" ContentType="image/png"/>
  <Override PartName="/ppt/media/image39.png" ContentType="image/png"/>
  <Override PartName="/ppt/media/image41.png" ContentType="image/png"/>
  <Override PartName="/ppt/media/image28.png" ContentType="image/png"/>
  <Override PartName="/ppt/media/image7.jpeg" ContentType="image/jpeg"/>
  <Override PartName="/ppt/media/image10.jpeg" ContentType="image/jpeg"/>
  <Override PartName="/ppt/media/image6.jpeg" ContentType="image/jpeg"/>
  <Override PartName="/ppt/media/image40.png" ContentType="image/png"/>
  <Override PartName="/ppt/media/image4.jpeg" ContentType="image/jpeg"/>
  <Override PartName="/ppt/media/image25.png" ContentType="image/png"/>
  <Override PartName="/ppt/media/image30.png" ContentType="image/png"/>
  <Override PartName="/ppt/media/image3.jpeg" ContentType="image/jpeg"/>
  <Override PartName="/ppt/media/image20.png" ContentType="image/png"/>
  <Override PartName="/ppt/media/image2.jpeg" ContentType="image/jpeg"/>
  <Override PartName="/ppt/media/image14.jpeg" ContentType="image/jpeg"/>
  <Override PartName="/ppt/media/image15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7.xml.rels" ContentType="application/vnd.openxmlformats-package.relationship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notesMasterIdLst>
    <p:notesMasterId r:id="rId2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F1E1FEC-5239-4E94-BD7B-F0887426AC6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4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3A13C5-EC9B-422F-AC9B-FB9A7A39030B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5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574DBB-6252-4DBD-8A4C-5AC06174B46E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6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2A2764-AF14-47B6-99BC-ED34D743DAAA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8200" cy="40075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200" cy="480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7"/>
          </p:nvPr>
        </p:nvSpPr>
        <p:spPr>
          <a:xfrm>
            <a:off x="4282200" y="10155600"/>
            <a:ext cx="327420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F947A4-D63A-489A-880E-8696F902A6B5}" type="slidenum">
              <a:rPr b="0" lang="ru-RU" sz="1200" spc="-1" strike="noStrike">
                <a:solidFill>
                  <a:schemeClr val="dk1"/>
                </a:solidFill>
                <a:latin typeface="Arial"/>
                <a:ea typeface="+mn-ea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52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8520" cy="331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6"/>
          <p:cNvSpPr/>
          <p:nvPr/>
        </p:nvSpPr>
        <p:spPr>
          <a:xfrm>
            <a:off x="5098320" y="54432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Box 7"/>
          <p:cNvSpPr/>
          <p:nvPr/>
        </p:nvSpPr>
        <p:spPr>
          <a:xfrm>
            <a:off x="5910840" y="47448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Box 1"/>
          <p:cNvSpPr/>
          <p:nvPr/>
        </p:nvSpPr>
        <p:spPr>
          <a:xfrm>
            <a:off x="5098320" y="54432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TextBox 2"/>
          <p:cNvSpPr/>
          <p:nvPr/>
        </p:nvSpPr>
        <p:spPr>
          <a:xfrm>
            <a:off x="5910840" y="47448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заглавия щёлкните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852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8520" cy="331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-865080" y="4593240"/>
            <a:ext cx="18144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720000" y="3080880"/>
            <a:ext cx="7739640" cy="141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1" strike="noStrike">
                <a:solidFill>
                  <a:schemeClr val="lt1"/>
                </a:solidFill>
                <a:latin typeface="Golos Text DemiBold"/>
              </a:rPr>
              <a:t>Лекция 7. Сети систем массового обслуживания</a:t>
            </a:r>
            <a:endParaRPr b="0" lang="ru-RU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Сети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06960" y="1382040"/>
            <a:ext cx="7311960" cy="31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Сеть систем массового обслуживания (СМО)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— система, состоящая из нескольких взаимосвязанных узлов (элементов массового обслуживания), через которые заявки перемещаются по заданным правилам маршрутизации. Каждый узел представляет собой </a:t>
            </a: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отдельную СМО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с собственными характеристиками (интенсивность обслуживания, дисциплина очереди), а переход заявок между узлами регулируется вероятностными или детерминированными правилами.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13200" y="304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Формальное определение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06960" y="1382040"/>
            <a:ext cx="8032680" cy="311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Сеть СМО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задается кортежем: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где: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—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множество узлов своего типа (M/M/1, M/M/n, M/G/k...),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       —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матрица переходных вероятностей,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                   —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векторы интенсивностей внешних потоков,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   —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дисциплины обслуживания в узлах (FIFO, LIFO, приоритеты).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3675600" y="1980000"/>
            <a:ext cx="1765440" cy="516600"/>
          </a:xfrm>
          <a:prstGeom prst="rect">
            <a:avLst/>
          </a:prstGeom>
          <a:ln w="0">
            <a:noFill/>
          </a:ln>
        </p:spPr>
      </p:pic>
      <p:pic>
        <p:nvPicPr>
          <p:cNvPr id="72" name="" descr=""/>
          <p:cNvPicPr/>
          <p:nvPr/>
        </p:nvPicPr>
        <p:blipFill>
          <a:blip r:embed="rId2"/>
          <a:stretch/>
        </p:blipFill>
        <p:spPr>
          <a:xfrm>
            <a:off x="833400" y="2844000"/>
            <a:ext cx="1866240" cy="408960"/>
          </a:xfrm>
          <a:prstGeom prst="rect">
            <a:avLst/>
          </a:prstGeom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3"/>
          <a:stretch/>
        </p:blipFill>
        <p:spPr>
          <a:xfrm>
            <a:off x="828000" y="3528000"/>
            <a:ext cx="999360" cy="380160"/>
          </a:xfrm>
          <a:prstGeom prst="rect">
            <a:avLst/>
          </a:prstGeom>
          <a:ln w="0">
            <a:noFill/>
          </a:ln>
        </p:spPr>
      </p:pic>
      <p:pic>
        <p:nvPicPr>
          <p:cNvPr id="74" name="" descr=""/>
          <p:cNvPicPr/>
          <p:nvPr/>
        </p:nvPicPr>
        <p:blipFill>
          <a:blip r:embed="rId4"/>
          <a:stretch/>
        </p:blipFill>
        <p:spPr>
          <a:xfrm>
            <a:off x="828000" y="3869280"/>
            <a:ext cx="1732680" cy="342360"/>
          </a:xfrm>
          <a:prstGeom prst="rect">
            <a:avLst/>
          </a:prstGeom>
          <a:ln w="0">
            <a:noFill/>
          </a:ln>
        </p:spPr>
      </p:pic>
      <p:pic>
        <p:nvPicPr>
          <p:cNvPr id="75" name="" descr=""/>
          <p:cNvPicPr/>
          <p:nvPr/>
        </p:nvPicPr>
        <p:blipFill>
          <a:blip r:embed="rId5"/>
          <a:stretch/>
        </p:blipFill>
        <p:spPr>
          <a:xfrm>
            <a:off x="828000" y="4176000"/>
            <a:ext cx="246960" cy="29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Типы сетей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07680" y="1067040"/>
            <a:ext cx="749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Открытые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 Заявки поступают извне и покидают систему после обслуживания. λ₀ &gt; 0.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Замкнутые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 Фиксированное число заявок циркулирует внутри сети (например, производственные циклы). λ₀ = 0.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Смешанные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 Комбинация открытых и замкнутых потоков.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Анализ: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Теорема Джексона (открытые сети с экспоненциальными узлами),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Метод анализа средних (MVA) (для замкнутых сетей),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Алгоритм Базина-Гордона (для замкнутых сетей),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Имитационное моделирование (для сложных случаев).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Mean Value Analysis (MVA)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07680" y="1499040"/>
            <a:ext cx="749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Идея: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алгоритм для расчета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средних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показателей замкнутых сетей СМО (с фиксированным числом заявок) без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явного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вычисления стационарных вероятностей.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Принципы: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Теорема прибытия (Arrival Theorem): заявка, поступающая в любой узел, «видит» систему в состоянии, равновесном для сети с N−1 заявками.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Рекуррентные соотношения: показатели для сети с N заявками выражаются через показатели для N−1 заявок (и так до 1).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Mean Value Analysis (MVA)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07680" y="1751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Условия применимости: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Замкнутая сеть с N заявками.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Экспоненциальное время обслуживания (M/M/1, M/M/n узлы).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Дисциплина FIFO (FCFS), PS (Processor Sharing) или LCFS.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Возможны произвольные маршруты между узлами (но без потерь заявок).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Алгоритм MVA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07680" y="1535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Дано: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K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узлов сети (каждый узел 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имеет параметр 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μ</a:t>
            </a:r>
            <a:r>
              <a:rPr b="0" i="1" lang="ru-RU" sz="18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​).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Число заявок 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N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Матрица маршрутизации 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P=[p</a:t>
            </a:r>
            <a:r>
              <a:rPr b="0" i="1" lang="ru-RU" sz="18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ij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]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Искомые величины: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L</a:t>
            </a:r>
            <a:r>
              <a:rPr b="0" i="1" lang="ru-RU" sz="18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(N)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— среднее число заявок в узле 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W</a:t>
            </a:r>
            <a:r>
              <a:rPr b="0" i="1" lang="ru-RU" sz="18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(N)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— среднее время пребывания в узле 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λ</a:t>
            </a:r>
            <a:r>
              <a:rPr b="0" i="1" lang="ru-RU" sz="1800" spc="-1" strike="noStrike" baseline="-8000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(N)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— пропускная способность узла </a:t>
            </a:r>
            <a:r>
              <a:rPr b="0" i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Алгоритм MVA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07680" y="1535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Wingdings" charset="2"/>
              <a:buAutoNum type="arabicParenR"/>
            </a:pPr>
            <a:br>
              <a:rPr sz="1800"/>
            </a:b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(FIFO)                                                             (LIFO / PS)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br>
              <a:rPr sz="1800"/>
            </a:b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                  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(M/M/n)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Wingdings" charset="2"/>
              <a:buAutoNum type="arabicParenR"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966240" y="1356840"/>
            <a:ext cx="2561400" cy="370800"/>
          </a:xfrm>
          <a:prstGeom prst="rect">
            <a:avLst/>
          </a:prstGeom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1644480" y="2004840"/>
            <a:ext cx="3475800" cy="77076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3"/>
          <a:stretch/>
        </p:blipFill>
        <p:spPr>
          <a:xfrm>
            <a:off x="6922440" y="2073960"/>
            <a:ext cx="1285200" cy="589680"/>
          </a:xfrm>
          <a:prstGeom prst="rect">
            <a:avLst/>
          </a:prstGeom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4"/>
          <a:stretch/>
        </p:blipFill>
        <p:spPr>
          <a:xfrm>
            <a:off x="3255840" y="2556000"/>
            <a:ext cx="3475800" cy="87552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5"/>
          <a:stretch/>
        </p:blipFill>
        <p:spPr>
          <a:xfrm>
            <a:off x="895320" y="3225960"/>
            <a:ext cx="2704320" cy="913680"/>
          </a:xfrm>
          <a:prstGeom prst="rect">
            <a:avLst/>
          </a:prstGeom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6"/>
          <a:stretch/>
        </p:blipFill>
        <p:spPr>
          <a:xfrm>
            <a:off x="4978080" y="3780000"/>
            <a:ext cx="2761560" cy="484920"/>
          </a:xfrm>
          <a:prstGeom prst="rect">
            <a:avLst/>
          </a:prstGeom>
          <a:ln w="0">
            <a:noFill/>
          </a:ln>
        </p:spPr>
      </p:pic>
      <p:sp>
        <p:nvSpPr>
          <p:cNvPr id="92" name=""/>
          <p:cNvSpPr/>
          <p:nvPr/>
        </p:nvSpPr>
        <p:spPr>
          <a:xfrm flipH="1">
            <a:off x="3168000" y="3168000"/>
            <a:ext cx="180000" cy="36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2340000" y="3780000"/>
            <a:ext cx="3780000" cy="1800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7"/>
          <a:stretch/>
        </p:blipFill>
        <p:spPr>
          <a:xfrm>
            <a:off x="1080000" y="4437000"/>
            <a:ext cx="1504080" cy="523080"/>
          </a:xfrm>
          <a:prstGeom prst="rect">
            <a:avLst/>
          </a:prstGeom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8"/>
          <a:stretch/>
        </p:blipFill>
        <p:spPr>
          <a:xfrm>
            <a:off x="3420000" y="4464000"/>
            <a:ext cx="1447200" cy="49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Приложения MVA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07680" y="1283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Компьютерные системы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Балансировка нагрузки в серверных кластерах.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Оптимизация многопоточных приложений.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Производство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Расчет пропускной способности конвейеров.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Оценка производительности линий обслуживания.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Логистика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Моделирование замкнутых транспортных систем (например, парк грузовиков).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Extended Mean Value Analysis (EMVA)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07680" y="1643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Расширения MVA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Узлы имеют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немарковскую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структуру (например, произвольные распределения времени обслуживания).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Присутствуют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приоритетные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дисциплины обслуживания (например, заявки с высоким приоритетом обслуживаются первыми).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Существуют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синхронизированные потоки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(например, fork-join системы).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Существует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несколько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классов заявок, обслуживаемых по-разному (например, грузовики и легковые автомобили).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Extended Mean Value Analysis (EMVA)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07680" y="1211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Множественные классы заявок. 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Для сетей с R классами заявок время пребывания для класса </a:t>
            </a:r>
            <a:r>
              <a:rPr b="0" i="1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r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 в узле </a:t>
            </a:r>
            <a:r>
              <a:rPr b="0" i="1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i</a:t>
            </a: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0" lang="ru-RU" sz="1600" spc="-1" strike="noStrike">
                <a:solidFill>
                  <a:srgbClr val="000000"/>
                </a:solidFill>
                <a:latin typeface="Arial"/>
                <a:ea typeface="Noto Sans CJK SC"/>
              </a:rPr>
              <a:t>Частный случай — приоритетные заявки: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16400" y="1917000"/>
            <a:ext cx="6771600" cy="142812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738360" y="3675240"/>
            <a:ext cx="6533280" cy="158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Приложения EMVA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07680" y="1607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Компьютерные системы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Анализ QoS (Quality of Service) для трафика с разными приоритетами.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Оптимизация многопоточных приложений с выделенными ресурсами.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Производство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Расчет пропускной способности конвейеров с несколькими изделиями.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Логистика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Доставка грузов по приоритетам.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Алгоритм Базина-Гордона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07680" y="1607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Эффективный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численный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метод для расчета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стационарных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вероятностей состояний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замкнутых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сетей СМО с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экспоненциальным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обслуживанием.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67"/>
              </a:spcBef>
              <a:spcAft>
                <a:spcPts val="567"/>
              </a:spcAft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В отличие от MVA,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напрямую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вычисляет вероятности состояний, что полезно для анализа редких событий или систем с нестандартными требованиями.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Алгоритм Базина-Гордона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07680" y="1607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Решаем систему уравнений для среднего числа посещений узла: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Вычисляем относительные интенсивности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668880" y="1994400"/>
            <a:ext cx="6219000" cy="156132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4205160" y="4205880"/>
            <a:ext cx="1018440" cy="66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Алгоритм Базина-Гордона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07680" y="1607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AutoNum type="arabicParenR" startAt="3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Используем рекурсию Базина-Гордона для нормировочной константы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Расчитываем вероятности состояний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70240" y="2052720"/>
            <a:ext cx="4399920" cy="58032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2375280" y="2635560"/>
            <a:ext cx="4390200" cy="494640"/>
          </a:xfrm>
          <a:prstGeom prst="rect">
            <a:avLst/>
          </a:prstGeom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3"/>
          <a:stretch/>
        </p:blipFill>
        <p:spPr>
          <a:xfrm>
            <a:off x="3103920" y="3686040"/>
            <a:ext cx="2932920" cy="91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1280" cy="5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Алгоритм Базина-Гордона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07680" y="1607040"/>
            <a:ext cx="8031960" cy="34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AutoNum type="arabicParenR" startAt="5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Среднее число заявок в узле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Wingdings" charset="2"/>
              <a:buAutoNum type="arabicParenR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Noto Sans CJK SC"/>
              </a:rPr>
              <a:t>Пропускная способность узла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1899000" y="2092680"/>
            <a:ext cx="5342760" cy="93276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2"/>
          <a:stretch/>
        </p:blipFill>
        <p:spPr>
          <a:xfrm>
            <a:off x="3294360" y="3767040"/>
            <a:ext cx="2552040" cy="75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/>
          </p:nvPr>
        </p:nvSpPr>
        <p:spPr>
          <a:xfrm>
            <a:off x="457200" y="1453320"/>
            <a:ext cx="822780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Равновесие Нэша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: состояние сети, где ни один пользователь (заявка) не может уменьшить свое время обслуживания, изменив маршрут в одностороннем порядке, при условии, что все остальные агенты сохраняют свои стратегии.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Эффект конвоя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(Convoy Effect): в системах с приоритетами короткие заявки могут "застревать" позади длинных низкоприоритетных, что снижает общую эффективность.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Парадокс Браесса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: добавление нового канала в сеть может увеличить среднее время обслуживания. Аналог — пробки на дорогах при открытии новой развязки.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104"/>
          <p:cNvSpPr/>
          <p:nvPr/>
        </p:nvSpPr>
        <p:spPr>
          <a:xfrm>
            <a:off x="457200" y="120600"/>
            <a:ext cx="692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Интересности про сети СМО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6"/>
          <p:cNvSpPr/>
          <p:nvPr/>
        </p:nvSpPr>
        <p:spPr>
          <a:xfrm>
            <a:off x="457200" y="120600"/>
            <a:ext cx="692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Парадокс Браесса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/>
          <p:nvPr/>
        </p:nvSpPr>
        <p:spPr>
          <a:xfrm>
            <a:off x="457200" y="1453680"/>
            <a:ext cx="8227800" cy="37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Возникает при: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Наличии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равновесного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распределения нагрузки (равновесие Нэша), когда каждый пользователь выбирает оптимальный для себя маршрут без учета общего блага.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Нелинейной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зависимости времени обслуживания от нагрузки (например, при ρ → 1, время ожидания растет экспоненциально).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Специфической топологии сети, где новый узел создает "короткий путь",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нарушающий баланс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5"/>
          <p:cNvSpPr/>
          <p:nvPr/>
        </p:nvSpPr>
        <p:spPr>
          <a:xfrm>
            <a:off x="457200" y="120600"/>
            <a:ext cx="692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Парадокс Браесса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16"/>
          <p:cNvSpPr/>
          <p:nvPr/>
        </p:nvSpPr>
        <p:spPr>
          <a:xfrm>
            <a:off x="457200" y="1453680"/>
            <a:ext cx="8227800" cy="37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Причины: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Эффект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перераспределения: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Новый узел притягивает слишком много заявок, перегружая ранее ненапряженные участки.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Потеря кооперации: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Локально оптимальные решения агентов (заявок) конфликтуют с глобальной оптимальностью.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Неравномерность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 нагрузки: Резкий рост очереди в узле D из-за его "привлекательности".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27"/>
          <p:cNvSpPr/>
          <p:nvPr/>
        </p:nvSpPr>
        <p:spPr>
          <a:xfrm>
            <a:off x="457200" y="120600"/>
            <a:ext cx="6921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ffffff"/>
                </a:solidFill>
                <a:latin typeface="Arial"/>
              </a:rPr>
              <a:t>Парадокс Браесса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28"/>
          <p:cNvSpPr/>
          <p:nvPr/>
        </p:nvSpPr>
        <p:spPr>
          <a:xfrm>
            <a:off x="457200" y="1417680"/>
            <a:ext cx="8227800" cy="37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Как улучшить систему?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Плата за перегрузку: введение динамических тарифов.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Координация: централизованный планировщик.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Искусственные задержки: добавление "виртуальных" задержек для выравнивания нагрузки.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57"/>
              </a:spcBef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В сложных сетях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интуитивные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улучшения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недопустимы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, изменения требуют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системного анализа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. Учет парадокса Браесса критичен при проектировании транспортных систем, ЦОД, организационных структур, процессов и т.п.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421</TotalTime>
  <Application>LibreOffice/24.2.7.2$Linux_X86_64 LibreOffice_project/420$Build-2</Application>
  <AppVersion>15.0000</AppVersion>
  <Words>964</Words>
  <Paragraphs>173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2024-06-25T16:10:47Z</dcterms:created>
  <dc:creator>Sviatoslav Stumpf</dc:creator>
  <dc:description/>
  <dc:language>ru-RU</dc:language>
  <cp:lastModifiedBy/>
  <dcterms:modified xsi:type="dcterms:W3CDTF">2026-04-21T14:37:28Z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32</vt:i4>
  </property>
</Properties>
</file>