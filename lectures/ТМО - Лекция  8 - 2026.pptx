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7.png" ContentType="image/png"/>
  <Override PartName="/ppt/media/image24.png" ContentType="image/png"/>
  <Override PartName="/ppt/media/image22.jpeg" ContentType="image/jpeg"/>
  <Override PartName="/ppt/media/image19.jpeg" ContentType="image/jpeg"/>
  <Override PartName="/ppt/media/image26.png" ContentType="image/png"/>
  <Override PartName="/ppt/media/image10.jpeg" ContentType="image/jpeg"/>
  <Override PartName="/ppt/media/image7.jpeg" ContentType="image/jpeg"/>
  <Override PartName="/ppt/media/image28.png" ContentType="image/png"/>
  <Override PartName="/ppt/media/image11.jpeg" ContentType="image/jpeg"/>
  <Override PartName="/ppt/media/image8.jpeg" ContentType="image/jpeg"/>
  <Override PartName="/ppt/media/image6.jpeg" ContentType="image/jpeg"/>
  <Override PartName="/ppt/media/image34.png" ContentType="image/png"/>
  <Override PartName="/ppt/media/image21.svg" ContentType="image/svg"/>
  <Override PartName="/ppt/media/image13.jpeg" ContentType="image/jpeg"/>
  <Override PartName="/ppt/media/image9.jpeg" ContentType="image/jpeg"/>
  <Override PartName="/ppt/media/image12.jpeg" ContentType="image/jpeg"/>
  <Override PartName="/ppt/media/image31.png" ContentType="image/png"/>
  <Override PartName="/ppt/media/image32.png" ContentType="image/png"/>
  <Override PartName="/ppt/media/image1.jpeg" ContentType="image/jpeg"/>
  <Override PartName="/ppt/media/image35.png" ContentType="image/png"/>
  <Override PartName="/ppt/media/image5.jpeg" ContentType="image/jpeg"/>
  <Override PartName="/ppt/media/image4.jpeg" ContentType="image/jpeg"/>
  <Override PartName="/ppt/media/image25.png" ContentType="image/png"/>
  <Override PartName="/ppt/media/image30.png" ContentType="image/png"/>
  <Override PartName="/ppt/media/image3.jpeg" ContentType="image/jpeg"/>
  <Override PartName="/ppt/media/image20.png" ContentType="image/png"/>
  <Override PartName="/ppt/media/image2.jpeg" ContentType="image/jpeg"/>
  <Override PartName="/ppt/media/image14.jpeg" ContentType="image/jpeg"/>
  <Override PartName="/ppt/media/image15.jpeg" ContentType="image/jpeg"/>
  <Override PartName="/ppt/media/image23.png" ContentType="image/png"/>
  <Override PartName="/ppt/media/image16.jpeg" ContentType="image/jpeg"/>
  <Override PartName="/ppt/media/image33.png" ContentType="image/png"/>
  <Override PartName="/ppt/media/image17.jpeg" ContentType="image/jpeg"/>
  <Override PartName="/ppt/media/image18.jpeg" ContentType="image/jpe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</p:sld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  <p:sldId id="282" r:id="rId53"/>
    <p:sldId id="283" r:id="rId54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Relationship Id="rId5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ustom Layou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6"/>
          <p:cNvSpPr/>
          <p:nvPr/>
        </p:nvSpPr>
        <p:spPr>
          <a:xfrm>
            <a:off x="5098320" y="54432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Box 7"/>
          <p:cNvSpPr/>
          <p:nvPr/>
        </p:nvSpPr>
        <p:spPr>
          <a:xfrm>
            <a:off x="5910840" y="47448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Box 1"/>
          <p:cNvSpPr/>
          <p:nvPr/>
        </p:nvSpPr>
        <p:spPr>
          <a:xfrm>
            <a:off x="5098320" y="54432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TextBox 2"/>
          <p:cNvSpPr/>
          <p:nvPr/>
        </p:nvSpPr>
        <p:spPr>
          <a:xfrm>
            <a:off x="5910840" y="47448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8880" cy="33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-865080" y="4593240"/>
            <a:ext cx="181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3080880"/>
            <a:ext cx="7739280" cy="141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1" strike="noStrike">
                <a:solidFill>
                  <a:schemeClr val="lt1"/>
                </a:solidFill>
                <a:latin typeface="Golos Text DemiBold"/>
              </a:rPr>
              <a:t>Лекция 8. Общая схема анализа СМО.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Box 4"/>
          <p:cNvSpPr/>
          <p:nvPr/>
        </p:nvSpPr>
        <p:spPr>
          <a:xfrm>
            <a:off x="624240" y="1154520"/>
            <a:ext cx="7835760" cy="40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Сформулировать цель: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целевая функция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Определить границы системы: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внешние потоки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Оценить параметры: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λ, μ, распределения, число каналов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Выбрать метод моделирования: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решение по методу и архитектура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Построить модель: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уравнения / код / правила агентов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Проверить модель: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верификация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Спланировать эксперимент: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диапазоны параметров, план прогонов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Выполнить предварительные расчёты, оценить: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валидация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Выполнить расчеты по плану: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массив выходных данных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Статистически обработать: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оценки показателей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defTabSz="457200">
              <a:lnSpc>
                <a:spcPct val="9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Принять решение: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выбрать конфигурацию, дать рекомендации</a:t>
            </a:r>
            <a:endParaRPr b="0" lang="ru-RU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25520" y="31572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Общий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алгоритм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изучения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 17"/>
          <p:cNvSpPr/>
          <p:nvPr/>
        </p:nvSpPr>
        <p:spPr>
          <a:xfrm>
            <a:off x="624240" y="1370520"/>
            <a:ext cx="7167600" cy="37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Параметры 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СМО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 для экономического анализа: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входящий поток требований или заявок на обслуживание;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561960" indent="-285840" defTabSz="4572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en-RU" sz="1400" spc="-1" strike="noStrike">
                <a:solidFill>
                  <a:schemeClr val="dk1"/>
                </a:solidFill>
                <a:latin typeface="Golos Text"/>
              </a:rPr>
              <a:t>правила фильтрации заявок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дисциплин</a:t>
            </a:r>
            <a:r>
              <a:rPr b="1" lang="en-RU" sz="1600" spc="-1" strike="noStrike">
                <a:solidFill>
                  <a:schemeClr val="dk1"/>
                </a:solidFill>
                <a:latin typeface="Golos Text"/>
              </a:rPr>
              <a:t>а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 постановки в очередь и выбор</a:t>
            </a:r>
            <a:r>
              <a:rPr b="1" lang="en-RU" sz="1600" spc="-1" strike="noStrike">
                <a:solidFill>
                  <a:schemeClr val="dk1"/>
                </a:solidFill>
                <a:latin typeface="Golos Text"/>
              </a:rPr>
              <a:t>а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 из нее;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правил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а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, по котор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ы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м осуществляется обслуживание;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561960" indent="-285840" defTabSz="4572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RU" sz="1400" spc="-1" strike="noStrike">
                <a:solidFill>
                  <a:schemeClr val="dk1"/>
                </a:solidFill>
                <a:latin typeface="Golos Text"/>
              </a:rPr>
              <a:t>правила частичного обслуживания заявки в ансамбле систем;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выходящий поток требований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 (вход следующей СМО)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режимы работы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 СМО.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25520" y="31572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Целевые функции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RU" sz="3000" spc="-1" strike="noStrike">
                <a:solidFill>
                  <a:schemeClr val="lt1"/>
                </a:solidFill>
                <a:latin typeface="Golos Text DemiBold"/>
              </a:rPr>
              <a:t>Описание входящего потока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Box 2"/>
          <p:cNvSpPr/>
          <p:nvPr/>
        </p:nvSpPr>
        <p:spPr>
          <a:xfrm>
            <a:off x="493200" y="1428480"/>
            <a:ext cx="4402440" cy="38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85840" indent="-285840" defTabSz="4572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Закон поступления требований в систему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rial"/>
              </a:rPr>
              <a:t>Интенсивность + распределение по времени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rial"/>
              </a:rPr>
              <a:t>Распределение временных интервалов между заявками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61"/>
              </a:spcBef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61"/>
              </a:spcBef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Правила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входной фильтрации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обращений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rial"/>
              </a:rPr>
              <a:t>По распределению характеристик (пороги)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rial"/>
              </a:rPr>
              <a:t>По параметрическим критериям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rial"/>
              </a:rPr>
              <a:t>По характеристикам СМО в момент поступления заявки (с обратной связью)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61"/>
              </a:spcBef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0" y="1728000"/>
            <a:ext cx="4254840" cy="29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Box 3"/>
          <p:cNvSpPr/>
          <p:nvPr/>
        </p:nvSpPr>
        <p:spPr>
          <a:xfrm>
            <a:off x="1153440" y="5256720"/>
            <a:ext cx="639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B5D7AC4E-C559-4771-AC7D-F3252BB81FF1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Box 1"/>
          <p:cNvSpPr/>
          <p:nvPr/>
        </p:nvSpPr>
        <p:spPr>
          <a:xfrm>
            <a:off x="600480" y="1416600"/>
            <a:ext cx="4259160" cy="38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rial"/>
              </a:rPr>
              <a:t>По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</a:rPr>
              <a:t>рядок </a:t>
            </a:r>
            <a:r>
              <a:rPr b="1" lang="ru-RU" sz="1500" spc="-1" strike="noStrike">
                <a:solidFill>
                  <a:schemeClr val="dk1"/>
                </a:solidFill>
                <a:latin typeface="Arial"/>
              </a:rPr>
              <a:t>постановки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заявки 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</a:rPr>
              <a:t>в очередь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FIFO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LIFO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Random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Постановка по параметрам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Выборка по параметрам заявки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1" lang="en-RU" sz="1500" spc="-1" strike="noStrike">
                <a:solidFill>
                  <a:schemeClr val="dk1"/>
                </a:solidFill>
                <a:latin typeface="Arial"/>
              </a:rPr>
              <a:t>Ограничения на параметры </a:t>
            </a: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очереди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Длина (неограниченная, ограниченная)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Время ожидания в очереди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Приоритеты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1" lang="en-RU" sz="1500" spc="-1" strike="noStrike">
                <a:solidFill>
                  <a:schemeClr val="dk1"/>
                </a:solidFill>
                <a:latin typeface="Arial"/>
              </a:rPr>
              <a:t>Организация очередей в системе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74680" indent="-274680" algn="just" defTabSz="4572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1520280" y="5107320"/>
            <a:ext cx="62352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RU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Дисциплина управления очередью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Picture 1" descr="A group of people standing and standing&#10;&#10;Description automatically generated"/>
          <p:cNvPicPr/>
          <p:nvPr/>
        </p:nvPicPr>
        <p:blipFill>
          <a:blip r:embed="rId1"/>
          <a:stretch/>
        </p:blipFill>
        <p:spPr>
          <a:xfrm>
            <a:off x="5110200" y="1947240"/>
            <a:ext cx="2985840" cy="277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Box 5"/>
          <p:cNvSpPr/>
          <p:nvPr/>
        </p:nvSpPr>
        <p:spPr>
          <a:xfrm>
            <a:off x="1153440" y="5256720"/>
            <a:ext cx="639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D60F4CC9-BF65-4D56-B7A4-152F52452DF7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Box 7"/>
          <p:cNvSpPr/>
          <p:nvPr/>
        </p:nvSpPr>
        <p:spPr>
          <a:xfrm>
            <a:off x="600480" y="1416600"/>
            <a:ext cx="4631040" cy="38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1" lang="en-RU" sz="1500" spc="-1" strike="noStrike">
                <a:solidFill>
                  <a:schemeClr val="dk1"/>
                </a:solidFill>
                <a:latin typeface="Arial"/>
              </a:rPr>
              <a:t>Длительность</a:t>
            </a: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 обслуживания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Фиксированная / детерминированная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Случайная, заданная функцией распределения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Параметрическая (заданная по параметрам заявки)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Количество</a:t>
            </a:r>
            <a:r>
              <a:rPr b="1" lang="en-RU" sz="1500" spc="-1" strike="noStrike">
                <a:solidFill>
                  <a:schemeClr val="dk1"/>
                </a:solidFill>
                <a:latin typeface="Arial"/>
              </a:rPr>
              <a:t> каналов обслуживания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Количество</a:t>
            </a:r>
            <a:r>
              <a:rPr b="1" lang="en-RU" sz="1500" spc="-1" strike="noStrike">
                <a:solidFill>
                  <a:schemeClr val="dk1"/>
                </a:solidFill>
                <a:latin typeface="Arial"/>
              </a:rPr>
              <a:t> фаз обслуживания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Однофазная СМО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Многофазная СМО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Многофазная СМО с возвратами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74680" indent="-274680" algn="just" defTabSz="4572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22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Правила обслуживания в очереди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Picture 2" descr="A group of people standing in front of a window&#10;&#10;Description automatically generated"/>
          <p:cNvPicPr/>
          <p:nvPr/>
        </p:nvPicPr>
        <p:blipFill>
          <a:blip r:embed="rId1"/>
          <a:stretch/>
        </p:blipFill>
        <p:spPr>
          <a:xfrm>
            <a:off x="5374800" y="1817640"/>
            <a:ext cx="3120120" cy="303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6"/>
          <p:cNvSpPr/>
          <p:nvPr/>
        </p:nvSpPr>
        <p:spPr>
          <a:xfrm>
            <a:off x="1153440" y="5256720"/>
            <a:ext cx="639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345401C4-0709-46CB-AB94-9A8D672BCB9E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Box 8"/>
          <p:cNvSpPr/>
          <p:nvPr/>
        </p:nvSpPr>
        <p:spPr>
          <a:xfrm>
            <a:off x="600480" y="1416600"/>
            <a:ext cx="7319160" cy="38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RU" sz="2000" spc="-1" strike="noStrike">
                <a:solidFill>
                  <a:schemeClr val="dk1"/>
                </a:solidFill>
                <a:latin typeface="Arial"/>
              </a:rPr>
              <a:t>Фильтрация заявок позволяет отсеивать невыгодные или проблемные запросы, оптимизируя нагрузку на систему и увеличивая прибыль. </a:t>
            </a:r>
            <a:br>
              <a:rPr sz="2000"/>
            </a:b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Типы фильтрации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По приоритету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По сложности запроса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По платежеспособности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На основе балансировки нагрузки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74680" indent="-274680" algn="just" defTabSz="4572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Фи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ль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тр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ац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ия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вх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од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ящ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их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за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яв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ок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Box 9"/>
          <p:cNvSpPr/>
          <p:nvPr/>
        </p:nvSpPr>
        <p:spPr>
          <a:xfrm>
            <a:off x="1153440" y="5256720"/>
            <a:ext cx="639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CCFC5DE8-9574-4A4D-B105-AEA044FB4E9E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Box 10"/>
          <p:cNvSpPr/>
          <p:nvPr/>
        </p:nvSpPr>
        <p:spPr>
          <a:xfrm>
            <a:off x="600480" y="1416600"/>
            <a:ext cx="7319160" cy="38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Фильтрация по приоритету - Разделение заявок на классы (например, VIP, стандарт, эконом) с разными условиями обслуживания.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Динамический приоритет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115000"/>
              <a:buFont typeface="Arial"/>
              <a:buChar char="•"/>
            </a:pPr>
            <a:br>
              <a:rPr sz="1500"/>
            </a:br>
            <a:r>
              <a:rPr b="0" i="1" lang="en-RU" sz="15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RU" sz="1500" spc="-1" strike="noStrike" baseline="-8000">
                <a:solidFill>
                  <a:schemeClr val="dk1"/>
                </a:solidFill>
                <a:latin typeface="Arial"/>
              </a:rPr>
              <a:t>i</a:t>
            </a:r>
            <a:r>
              <a:rPr b="0" lang="en-RU" sz="1500" spc="-1" strike="noStrike" baseline="-8000">
                <a:solidFill>
                  <a:schemeClr val="dk1"/>
                </a:solidFill>
                <a:latin typeface="Arial"/>
              </a:rPr>
              <a:t>​</a:t>
            </a: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 – доход от заявки, </a:t>
            </a:r>
            <a:r>
              <a:rPr b="0" i="1" lang="en-RU" sz="15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i="1" lang="en-RU" sz="1500" spc="-1" strike="noStrike" baseline="-8000">
                <a:solidFill>
                  <a:schemeClr val="dk1"/>
                </a:solidFill>
                <a:latin typeface="Arial"/>
              </a:rPr>
              <a:t>i</a:t>
            </a: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 – ожидаемое время обслуживания.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Платный приоритет – клиенты могут оплатить ускоренное обслуживание (аналог «fast track» в аэропортах).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На основе балансировки нагрузки:</a:t>
            </a:r>
            <a:br>
              <a:rPr sz="1800"/>
            </a:br>
            <a:br>
              <a:rPr sz="1800"/>
            </a:b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Если система перегружена (</a:t>
            </a:r>
            <a:r>
              <a:rPr b="0" i="1" lang="en-RU" sz="1500" spc="-1" strike="noStrike">
                <a:solidFill>
                  <a:schemeClr val="dk1"/>
                </a:solidFill>
                <a:latin typeface="Arial"/>
              </a:rPr>
              <a:t>ρ≥0.8</a:t>
            </a:r>
            <a:r>
              <a:rPr b="0" lang="en-RU" sz="1500" spc="-1" strike="noStrike">
                <a:solidFill>
                  <a:schemeClr val="dk1"/>
                </a:solidFill>
                <a:latin typeface="Arial"/>
              </a:rPr>
              <a:t>), фильтровать заявки жестче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74680" indent="-274680" algn="just" defTabSz="4572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Фильтрация входящих заявок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3924000" y="2095200"/>
            <a:ext cx="1046880" cy="85644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4896000" y="4068000"/>
            <a:ext cx="732600" cy="47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Box 11"/>
          <p:cNvSpPr/>
          <p:nvPr/>
        </p:nvSpPr>
        <p:spPr>
          <a:xfrm>
            <a:off x="1153440" y="5256720"/>
            <a:ext cx="639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0A2536FF-07F6-40A7-8D87-2E0AC518F454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Box 12"/>
          <p:cNvSpPr/>
          <p:nvPr/>
        </p:nvSpPr>
        <p:spPr>
          <a:xfrm>
            <a:off x="600480" y="1416600"/>
            <a:ext cx="7319160" cy="38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Фильтрация по сложности - отсев заявок, которые требуют слишком много ресурсов или имеют низкую вероятность успешного завершения.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Arial"/>
              </a:rPr>
              <a:t>Снижение нагрузки на дорогие ресурсы (например, квалифицированных сотрудников).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Arial"/>
              </a:rPr>
              <a:t>Рост общего дохода на 10–20% за счет концентрации на рентабельных заявках.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Фильтрация по платежеспособности - предварительная проверка клиентов (кредитоспособность, история платежей).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Сокращение безнадежных долгов на 25–40%.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Уменьшение затрат на взыскание.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Фильтрация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входящих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заявок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Box 13"/>
          <p:cNvSpPr/>
          <p:nvPr/>
        </p:nvSpPr>
        <p:spPr>
          <a:xfrm>
            <a:off x="1153440" y="5256720"/>
            <a:ext cx="639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42A4205F-DC8C-4D6C-8A17-8515B5998E43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Box 14"/>
          <p:cNvSpPr/>
          <p:nvPr/>
        </p:nvSpPr>
        <p:spPr>
          <a:xfrm>
            <a:off x="600480" y="1416600"/>
            <a:ext cx="7319160" cy="38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Инструменты.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AI-классификаторы (бямка для анализа текста заявки).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Скоринговые системы (на основе CRM-данных).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Динамическое ценообразование (например, повышение тарифа для «сложных» запросов).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Общий алгоритм: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Внедрить приоритезацию: разделить заявки на VIP/стандарт;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Отсекать убыточные заявки: использовать пороговые правила;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Автоматизировать фильтрацию: чат-боты, скоринговые системы;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Динамически подстраивать фильтры: ужесточать отбор при перегрузке;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Автоматически подстраивать тарифы и условия обслуживания.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Автоматизац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ия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фильтрации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Очереди: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дисциплины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06960" y="138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FIFO (First In, First Out)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первым пришел, первым обслужен.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проста в реализации, но может приводить к большим задержкам для высокоприоритетных клиентов.</a:t>
            </a:r>
            <a:br>
              <a:rPr sz="2000"/>
            </a:b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LIFO (Last In, First Out)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последним пришел, первым обслужен.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может улучшать среднее время ожидания для новых заявок, но увеличивает несправедливость.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Очереди: дисциплины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06960" y="138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Приоритетное обслуживание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заявки с высоким приоритетом обслуживаются первыми.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повышает удовлетворенность важных клиентов, но может ухудшать средние показатели для остальных.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RR (Round Robin)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циклическое обслуживание с квантом времени.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обеспечивает справедливость, но может снижать общую пропускную способность.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Очереди: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дисциплины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06960" y="138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PS (Processor Sharing)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все заявки обслуживаются "одновременно" с разделением ресурса.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минимизирует вариативность времени ожидания, но требует сложного управления.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Очереди: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дисциплины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Ограничение очереди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(например, отказ при переполнении).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снижает перегрузку, но ведет к потерям заявок.</a:t>
            </a:r>
            <a:br>
              <a:rPr sz="2000"/>
            </a:b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Динамическое управление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(например, добавление серверов при росте нагрузки).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требует затрат на масштабирование, но улучшает качество обслуживания.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Очереди: дисциплины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Раздельные очереди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(например, fast lane и regular lane).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позволяет дифференцировать услуги по цене.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Единый пул с балансировкой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(например, виртуальная очередь в банках).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Экономика: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повышает эффективность использования ресурсов.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Анализ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очередей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Метрики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Среднее время ожидания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влияет на удовлетворенность клиентов.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Коэффициент загрузки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определяет эффективность использования ресурсов.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Вероятность отказа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потери из-за перегруженности.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Стоимость обслуживания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затраты на инфраструктуру и персонал.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Анализ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очередей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Методы анализа и оптимизации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Теория очередей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(Марковские процессы, формулы Эрланга) – для расчета стационарных характеристик.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Имитационное моделирование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для сложных систем с нестандартными дисциплинами.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Эконометрические подходы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– анализ реальных данных для настройки параметров.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Анализ и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выбор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вариантов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Сравнение общей очереди и нескольких параллельных очередей в многоканальной СМО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Одна общая очередь (Single Queue, SQ) 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все заявки попадают в единый пул и распределяются на свободные серверы.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Несколько параллельных очередей (Multiple Queues, MQ) 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у каждого сервера своя очередь, заявка выбирает одну из них (например, случайно или по наименьшей длине).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Общая </a:t>
            </a: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очередь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Среднее число заявок в очереди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Среднее время ожидания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Среднее время в системе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1368000" y="1857960"/>
            <a:ext cx="2142360" cy="91368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2"/>
          <a:stretch/>
        </p:blipFill>
        <p:spPr>
          <a:xfrm>
            <a:off x="4315680" y="1944000"/>
            <a:ext cx="3675960" cy="86616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3"/>
          <a:stretch/>
        </p:blipFill>
        <p:spPr>
          <a:xfrm>
            <a:off x="4006440" y="2946960"/>
            <a:ext cx="1142280" cy="73260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4"/>
          <a:stretch/>
        </p:blipFill>
        <p:spPr>
          <a:xfrm>
            <a:off x="4278960" y="4161960"/>
            <a:ext cx="1532880" cy="89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Параллельные очереди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Среднее время ожидания в одной очереди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Общее среднее время ожидания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3024720" y="1976400"/>
            <a:ext cx="3094920" cy="72324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3007800" y="3643200"/>
            <a:ext cx="3075840" cy="85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Сравнение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Среднее время ожидания в одной очереди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Среднее время ожидания в параллельных очередях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525480" y="1806840"/>
            <a:ext cx="2104200" cy="78048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3458520" y="3743640"/>
            <a:ext cx="2237760" cy="72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Параллельные очереди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Когда выбирать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общую очередь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?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Высокая стоимость простоя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клиентов (например, call-центры, банки).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Важна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минимизация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времени ожидания.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Когда выбирать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параллельные очереди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?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Низкие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требования к времени ожидания.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Ограниченные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ресурсы на управление очередями (например, супермаркеты с кассами).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«Лайфхак» - какой я умный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Рассмотрим систему с несколькими каналами, где: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Часть заявок («наивные») встает только в одну случайную очередь (как в классической многоканальной СМО).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Часть заявок («умные») встает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во все очереди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(как в системе с дублированием).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0920" cy="5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«Лайфхак» - какой я умный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06960" y="1202040"/>
            <a:ext cx="7311600" cy="31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Время ожидания: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«Наивные»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«Умные»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3132000" y="1453320"/>
            <a:ext cx="2770920" cy="74232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2"/>
          <a:stretch/>
        </p:blipFill>
        <p:spPr>
          <a:xfrm>
            <a:off x="3129480" y="2196000"/>
            <a:ext cx="2666160" cy="761400"/>
          </a:xfrm>
          <a:prstGeom prst="rect">
            <a:avLst/>
          </a:prstGeom>
          <a:ln w="0">
            <a:noFill/>
          </a:ln>
        </p:spPr>
      </p:pic>
      <p:sp>
        <p:nvSpPr>
          <p:cNvPr id="133" name=""/>
          <p:cNvSpPr/>
          <p:nvPr/>
        </p:nvSpPr>
        <p:spPr>
          <a:xfrm>
            <a:off x="566640" y="3298320"/>
            <a:ext cx="7893000" cy="23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Умные заявки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выигрывают значительно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(время ожидания ↓, удовлетворенность ↑).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Обычные заявки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проигрывают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, но это может быть оправдано экономически.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Оптимальная стратегия требует анализа доходов и потерь для обеих групп.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Box 15"/>
          <p:cNvSpPr/>
          <p:nvPr/>
        </p:nvSpPr>
        <p:spPr>
          <a:xfrm>
            <a:off x="1387440" y="5256720"/>
            <a:ext cx="171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81125E33-E6BE-4807-AA8E-05A204411745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5000"/>
          </a:bodyPr>
          <a:p>
            <a:pPr indent="0">
              <a:buNone/>
            </a:pPr>
            <a:r>
              <a:rPr b="1" lang="ru-RU" sz="4400" spc="-1" strike="noStrike">
                <a:solidFill>
                  <a:srgbClr val="ffffff"/>
                </a:solidFill>
                <a:latin typeface="Arial"/>
              </a:rPr>
              <a:t>Выбор метода моделирования</a:t>
            </a:r>
            <a:endParaRPr b="1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36" name=""/>
          <p:cNvGraphicFramePr/>
          <p:nvPr/>
        </p:nvGraphicFramePr>
        <p:xfrm>
          <a:off x="408240" y="1793880"/>
          <a:ext cx="8331120" cy="3042720"/>
        </p:xfrm>
        <a:graphic>
          <a:graphicData uri="http://schemas.openxmlformats.org/drawingml/2006/table">
            <a:tbl>
              <a:tblPr/>
              <a:tblGrid>
                <a:gridCol w="2971800"/>
                <a:gridCol w="1936800"/>
                <a:gridCol w="1757160"/>
                <a:gridCol w="1665360"/>
              </a:tblGrid>
              <a:tr h="2674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Ситуация</a:t>
                      </a:r>
                      <a:endParaRPr b="1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Аналитика</a:t>
                      </a:r>
                      <a:endParaRPr b="1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Имитация</a:t>
                      </a:r>
                      <a:endParaRPr b="1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Агенты</a:t>
                      </a:r>
                      <a:endParaRPr b="1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26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Поток – </a:t>
                      </a:r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пуассоновский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,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обслуживание – </a:t>
                      </a:r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экспоненциальное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✅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идеал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📉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избыточно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❌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не нужно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26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Распределения </a:t>
                      </a:r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произвольные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(G/G/n)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❌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нет формул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✅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подходит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🔶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можно, но зачем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74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Замкнутая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сеть с 5–20 заявками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✅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MVA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🔶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допустимо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74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Толпа, эвакуация, водители… иначе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говоря, есть </a:t>
                      </a:r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адаптивность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🔶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ограниченно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✅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лучший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7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Нужна </a:t>
                      </a:r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точная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вероятность отказа в редких событиях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✅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(если есть формула)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❌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(нужны миллионы прогонов)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26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Высокая размерность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(&gt;10 узлов, сложная маршрутизация)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✅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🔶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Box 19"/>
          <p:cNvSpPr/>
          <p:nvPr/>
        </p:nvSpPr>
        <p:spPr>
          <a:xfrm>
            <a:off x="1429920" y="5256720"/>
            <a:ext cx="864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01F8F6B8-3BC5-4697-9276-0A510694D9D8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5000"/>
          </a:bodyPr>
          <a:p>
            <a:pPr indent="0">
              <a:buNone/>
            </a:pPr>
            <a:r>
              <a:rPr b="1" lang="ru-RU" sz="4400" spc="-1" strike="noStrike">
                <a:solidFill>
                  <a:srgbClr val="ffffff"/>
                </a:solidFill>
                <a:latin typeface="Arial"/>
              </a:rPr>
              <a:t>Типичные ошибки</a:t>
            </a:r>
            <a:endParaRPr b="1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39" name=""/>
          <p:cNvGraphicFramePr/>
          <p:nvPr/>
        </p:nvGraphicFramePr>
        <p:xfrm>
          <a:off x="485280" y="1753200"/>
          <a:ext cx="8048880" cy="2124720"/>
        </p:xfrm>
        <a:graphic>
          <a:graphicData uri="http://schemas.openxmlformats.org/drawingml/2006/table">
            <a:tbl>
              <a:tblPr/>
              <a:tblGrid>
                <a:gridCol w="2953800"/>
                <a:gridCol w="2303640"/>
                <a:gridCol w="2791800"/>
              </a:tblGrid>
              <a:tr h="2980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Ошибка</a:t>
                      </a:r>
                      <a:endParaRPr b="1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Почему плохо</a:t>
                      </a:r>
                      <a:endParaRPr b="1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Как правильно</a:t>
                      </a:r>
                      <a:endParaRPr b="1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Сразу браться за агентное моделирование, когда есть Пуассон одинаковых заявок. 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Сложность неоправданна, достаточно M/M/n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Оценить, </a:t>
                      </a:r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есть ли адаптивное поведение</a:t>
                      </a: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(нет → имитация/аналитика)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38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Использовать имитацию, когда есть формула Эрланга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Тратим время, теряем точность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Проверить, </a:t>
                      </a:r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выполняется ли M/M/n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Применять аналитику для сети с приоритетами и нетерпеливыми заявками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Формулы нет → результат неверен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Имитация или адаптированная MVA (если повезёт...)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Делать мало прогонов имитации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Случайная погрешность принимается за истину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Оценить </a:t>
                      </a:r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доверительный интервал</a:t>
                      </a: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, делать максимум прогонов.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Box 16"/>
          <p:cNvSpPr/>
          <p:nvPr/>
        </p:nvSpPr>
        <p:spPr>
          <a:xfrm>
            <a:off x="1429920" y="5256720"/>
            <a:ext cx="864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EE43928D-757B-49CA-B668-93476019FEFD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5000"/>
          </a:bodyPr>
          <a:p>
            <a:pPr indent="0">
              <a:buNone/>
            </a:pPr>
            <a:r>
              <a:rPr b="1" lang="ru-RU" sz="4400" spc="-1" strike="noStrike">
                <a:solidFill>
                  <a:srgbClr val="ffffff"/>
                </a:solidFill>
                <a:latin typeface="Arial"/>
              </a:rPr>
              <a:t>Закон Литтла</a:t>
            </a:r>
            <a:endParaRPr b="1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06960" y="1266480"/>
            <a:ext cx="7493040" cy="39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r>
              <a:rPr b="1" i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L = λ × W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– работает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всегда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, даже если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распределения не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экспоненциальные.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Правило: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если можно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оценить среднее время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пребывания </a:t>
            </a:r>
            <a:r>
              <a:rPr b="1" i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W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из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предметной области →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можно грубо оценить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среднюю длину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очереди </a:t>
            </a:r>
            <a:r>
              <a:rPr b="1" i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L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. Отбраковать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заведомо плохие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решения.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Пример: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1" i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λ = 10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заявок/мин, </a:t>
            </a:r>
            <a:r>
              <a:rPr b="1" i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L &lt; 5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, то </a:t>
            </a:r>
            <a:r>
              <a:rPr b="1" i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W </a:t>
            </a:r>
            <a:r>
              <a:rPr b="1" i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&lt; 0.5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мин. Если по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опыту обслуживание ~1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мин – сразу ясно, что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нужно несколько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каналов.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Закон Литтла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—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фильтр первого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уровня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перед любым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моделированием.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Box 18"/>
          <p:cNvSpPr/>
          <p:nvPr/>
        </p:nvSpPr>
        <p:spPr>
          <a:xfrm>
            <a:off x="1429920" y="5256720"/>
            <a:ext cx="864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CF5212A9-7C5E-499D-88DA-688EBF47AFBF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5000"/>
          </a:bodyPr>
          <a:p>
            <a:pPr indent="0">
              <a:buNone/>
            </a:pPr>
            <a:r>
              <a:rPr b="1" lang="ru-RU" sz="4400" spc="-1" strike="noStrike">
                <a:solidFill>
                  <a:srgbClr val="ffffff"/>
                </a:solidFill>
                <a:latin typeface="Arial"/>
              </a:rPr>
              <a:t>3 П-</a:t>
            </a:r>
            <a:r>
              <a:rPr b="1" lang="ru-RU" sz="4400" spc="-1" strike="noStrike">
                <a:solidFill>
                  <a:srgbClr val="ffffff"/>
                </a:solidFill>
                <a:latin typeface="Arial"/>
              </a:rPr>
              <a:t>измерени</a:t>
            </a:r>
            <a:r>
              <a:rPr b="1" lang="ru-RU" sz="4400" spc="-1" strike="noStrike">
                <a:solidFill>
                  <a:srgbClr val="ffffff"/>
                </a:solidFill>
                <a:latin typeface="Arial"/>
              </a:rPr>
              <a:t>я</a:t>
            </a:r>
            <a:endParaRPr b="1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06960" y="1266480"/>
            <a:ext cx="7853040" cy="39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7"/>
              </a:spcBef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Правило моделирования СМО: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Простейшие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системы – аналитика.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Переменные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(неэкспоненциальные, зависимые) – имитация.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Поведенческие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(микрорешения, адаптивность) – агентная модель.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spcBef>
                <a:spcPts val="57"/>
              </a:spcBef>
            </a:pPr>
            <a:r>
              <a:rPr b="0" i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Модель не должна быть сложнее, чем это необходимо для ответа на вопрос.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543</TotalTime>
  <Application>LibreOffice/24.2.7.2$Linux_X86_64 LibreOffice_project/420$Build-2</Application>
  <AppVersion>15.0000</AppVersion>
  <Words>964</Words>
  <Paragraphs>173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2024-06-25T16:10:47Z</dcterms:created>
  <dc:creator>Sviatoslav Stumpf</dc:creator>
  <dc:description/>
  <dc:language>ru-RU</dc:language>
  <cp:lastModifiedBy/>
  <dcterms:modified xsi:type="dcterms:W3CDTF">2026-05-05T14:27:51Z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32</vt:i4>
  </property>
</Properties>
</file>