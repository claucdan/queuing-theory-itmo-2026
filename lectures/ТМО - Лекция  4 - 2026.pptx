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56.png" ContentType="image/png"/>
  <Override PartName="/ppt/media/image55.png" ContentType="image/png"/>
  <Override PartName="/ppt/media/image54.png" ContentType="image/png"/>
  <Override PartName="/ppt/media/image6.jpeg" ContentType="image/jpeg"/>
  <Override PartName="/ppt/media/image60.png" ContentType="image/png"/>
  <Override PartName="/ppt/media/image50.png" ContentType="image/png"/>
  <Override PartName="/ppt/media/image40.png" ContentType="image/png"/>
  <Override PartName="/ppt/media/image51.png" ContentType="image/png"/>
  <Override PartName="/ppt/media/image4.jpeg" ContentType="image/jpeg"/>
  <Override PartName="/ppt/media/image30.png" ContentType="image/png"/>
  <Override PartName="/ppt/media/image20.png" ContentType="image/png"/>
  <Override PartName="/ppt/media/image57.png" ContentType="image/png"/>
  <Override PartName="/ppt/media/image47.png" ContentType="image/png"/>
  <Override PartName="/ppt/media/image1.jpeg" ContentType="image/jpeg"/>
  <Override PartName="/ppt/media/image21.png" ContentType="image/png"/>
  <Override PartName="/ppt/media/image25.png" ContentType="image/png"/>
  <Override PartName="/ppt/media/image62.png" ContentType="image/png"/>
  <Override PartName="/ppt/media/image12.jpeg" ContentType="image/jpeg"/>
  <Override PartName="/ppt/media/image27.png" ContentType="image/png"/>
  <Override PartName="/ppt/media/image23.png" ContentType="image/png"/>
  <Override PartName="/ppt/media/image58.png" ContentType="image/png"/>
  <Override PartName="/ppt/media/image16.jpeg" ContentType="image/jpeg"/>
  <Override PartName="/ppt/media/image29.png" ContentType="image/png"/>
  <Override PartName="/ppt/media/image18.jpeg" ContentType="image/jpeg"/>
  <Override PartName="/ppt/media/image43.png" ContentType="image/png"/>
  <Override PartName="/ppt/media/image22.png" ContentType="image/png"/>
  <Override PartName="/ppt/media/image59.png" ContentType="image/png"/>
  <Override PartName="/ppt/media/image19.jpeg" ContentType="image/jpeg"/>
  <Override PartName="/ppt/media/image53.png" ContentType="image/png"/>
  <Override PartName="/ppt/media/image5.jpeg" ContentType="image/jpeg"/>
  <Override PartName="/ppt/media/image61.png" ContentType="image/png"/>
  <Override PartName="/ppt/media/image24.png" ContentType="image/png"/>
  <Override PartName="/ppt/media/image17.jpeg" ContentType="image/jpeg"/>
  <Override PartName="/ppt/media/image33.png" ContentType="image/png"/>
  <Override PartName="/ppt/media/image63.png" ContentType="image/png"/>
  <Override PartName="/ppt/media/image10.jpeg" ContentType="image/jpeg"/>
  <Override PartName="/ppt/media/image42.png" ContentType="image/png"/>
  <Override PartName="/ppt/media/image7.jpeg" ContentType="image/jpeg"/>
  <Override PartName="/ppt/media/image11.jpeg" ContentType="image/jpeg"/>
  <Override PartName="/ppt/media/image52.png" ContentType="image/png"/>
  <Override PartName="/ppt/media/image26.png" ContentType="image/png"/>
  <Override PartName="/ppt/media/image8.jpeg" ContentType="image/jpeg"/>
  <Override PartName="/ppt/media/image38.png" ContentType="image/png"/>
  <Override PartName="/ppt/media/image14.jpeg" ContentType="image/jpeg"/>
  <Override PartName="/ppt/media/image28.png" ContentType="image/png"/>
  <Override PartName="/ppt/media/image13.jpeg" ContentType="image/jpeg"/>
  <Override PartName="/ppt/media/image15.jpeg" ContentType="image/jpeg"/>
  <Override PartName="/ppt/media/image48.png" ContentType="image/png"/>
  <Override PartName="/ppt/media/image2.jpeg" ContentType="image/jpeg"/>
  <Override PartName="/ppt/media/image31.png" ContentType="image/png"/>
  <Override PartName="/ppt/media/image32.png" ContentType="image/png"/>
  <Override PartName="/ppt/media/image34.png" ContentType="image/png"/>
  <Override PartName="/ppt/media/image35.png" ContentType="image/png"/>
  <Override PartName="/ppt/media/image9.jpeg" ContentType="image/jpeg"/>
  <Override PartName="/ppt/media/image36.png" ContentType="image/png"/>
  <Override PartName="/ppt/media/image37.png" ContentType="image/png"/>
  <Override PartName="/ppt/media/image39.png" ContentType="image/png"/>
  <Override PartName="/ppt/media/image3.jpeg" ContentType="image/jpeg"/>
  <Override PartName="/ppt/media/image41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notesMasterIdLst>
    <p:notesMasterId r:id="rId26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278" r:id="rId49"/>
    <p:sldId id="279" r:id="rId50"/>
    <p:sldId id="280" r:id="rId51"/>
    <p:sldId id="281" r:id="rId52"/>
    <p:sldId id="282" r:id="rId53"/>
    <p:sldId id="283" r:id="rId54"/>
    <p:sldId id="284" r:id="rId55"/>
    <p:sldId id="285" r:id="rId56"/>
    <p:sldId id="286" r:id="rId57"/>
    <p:sldId id="287" r:id="rId58"/>
    <p:sldId id="288" r:id="rId59"/>
  </p:sldIdLst>
  <p:sldSz cx="9144000" cy="5715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slide" Target="slides/slide20.xml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24.xml"/><Relationship Id="rId51" Type="http://schemas.openxmlformats.org/officeDocument/2006/relationships/slide" Target="slides/slide25.xml"/><Relationship Id="rId52" Type="http://schemas.openxmlformats.org/officeDocument/2006/relationships/slide" Target="slides/slide26.xml"/><Relationship Id="rId53" Type="http://schemas.openxmlformats.org/officeDocument/2006/relationships/slide" Target="slides/slide27.xml"/><Relationship Id="rId54" Type="http://schemas.openxmlformats.org/officeDocument/2006/relationships/slide" Target="slides/slide28.xml"/><Relationship Id="rId55" Type="http://schemas.openxmlformats.org/officeDocument/2006/relationships/slide" Target="slides/slide29.xml"/><Relationship Id="rId56" Type="http://schemas.openxmlformats.org/officeDocument/2006/relationships/slide" Target="slides/slide30.xml"/><Relationship Id="rId57" Type="http://schemas.openxmlformats.org/officeDocument/2006/relationships/slide" Target="slides/slide31.xml"/><Relationship Id="rId58" Type="http://schemas.openxmlformats.org/officeDocument/2006/relationships/slide" Target="slides/slide32.xml"/><Relationship Id="rId59" Type="http://schemas.openxmlformats.org/officeDocument/2006/relationships/slide" Target="slides/slide33.xml"/><Relationship Id="rId6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D3DFC07-8567-4EA1-9439-24AB89D8F288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603E31-2278-48A5-8203-B7E0FC60E4BC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5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D681BB-9782-481A-B410-46FC302F3B7E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6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899123-572A-465C-BFAD-B31342E9B07B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7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497AEF-98C4-4E98-9F72-82B418128EC0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8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E3641C-FCB6-4E6E-8070-FE34F99FA546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9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344991-2653-4F49-8A3C-146D39C6B8B1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0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E8DE94-7690-408E-B614-D2CC07EAC970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1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BB994C-FE09-43BA-9143-B2F4A718B02D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2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7879B3-DA62-4FF1-A633-0AFD784CE8BF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3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1585CB-2825-4CEF-A124-C47AD4EA4BFB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4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50F54B-2EC5-4FA1-A6F3-E9DFDCDC74A8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5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CDAAB7-FDF3-4C41-9909-11D884218780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6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6B3CAB-6539-4BCD-B871-B5748650C4FB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7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A1D3FB-ABDD-495E-935F-FAF6C4389A16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8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324358-BD71-4881-9CC1-52F7004AFE28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9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11A8C8-31CE-4D52-8F9A-16F4198C2E00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20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3EC461-58D3-43C3-A16B-07299DE17606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21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F4C976-FEA0-4242-A7A6-99AAA28E30B8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22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BEEECF-7655-4780-8CC8-25EC3C4B8A07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23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BB58FD-C57F-476F-9A71-53D957690ABA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а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kfq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6"/>
          <p:cNvSpPr/>
          <p:nvPr/>
        </p:nvSpPr>
        <p:spPr>
          <a:xfrm>
            <a:off x="5098320" y="54432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Box 7"/>
          <p:cNvSpPr/>
          <p:nvPr/>
        </p:nvSpPr>
        <p:spPr>
          <a:xfrm>
            <a:off x="5910840" y="47448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TextBox 1"/>
          <p:cNvSpPr/>
          <p:nvPr/>
        </p:nvSpPr>
        <p:spPr>
          <a:xfrm>
            <a:off x="5098320" y="54432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TextBox 2"/>
          <p:cNvSpPr/>
          <p:nvPr/>
        </p:nvSpPr>
        <p:spPr>
          <a:xfrm>
            <a:off x="5910840" y="47448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правки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щёлкни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заглавия щёлкните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заглавия щёлкните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8880" cy="331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20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20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20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20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20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20.xml"/><Relationship Id="rId5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Layout" Target="../slideLayouts/slideLayout1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371600" y="3080880"/>
            <a:ext cx="6397560" cy="77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000" spc="-1" strike="noStrike">
                <a:solidFill>
                  <a:schemeClr val="lt1"/>
                </a:solidFill>
                <a:latin typeface="Golos Text DemiBold"/>
              </a:rPr>
              <a:t>Лекция 4. Подходы к моделированию СМО</a:t>
            </a:r>
            <a:endParaRPr b="0" lang="ru-RU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Классификация СМО (Кендалл)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06960" y="2160000"/>
            <a:ext cx="7311960" cy="31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Первая буква - входящий поток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Вторая буква - время обслуживания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Третья цифра - число каналов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Четвертый символ - дисциплина очереди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Дополнительные обозначения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N - максимальное число заявок в системе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K - размер популяции (для замкнутых систем)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780000" y="1333080"/>
            <a:ext cx="2338920" cy="17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00000"/>
                </a:solidFill>
                <a:latin typeface="Arial"/>
              </a:rPr>
              <a:t>M/M/n/∞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Классификация СМО (Кендалл)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606960" y="1980000"/>
            <a:ext cx="731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M (Markovian)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- экспоненциальное распределение времени между заявками (пуассоновский поток)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D (Deterministic)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- детерминированный поток (фиксированные интервалы)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G (General)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- произвольное распределение (общий случай)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Eₖ (Erlang)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- распределение Эрланга порядка k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Hₖ (Hyperexponential)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- гиперэкспоненциальное распределение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3780000" y="1333440"/>
            <a:ext cx="2338920" cy="17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1" lang="ru-RU" sz="3200" spc="-1" strike="noStrike">
                <a:solidFill>
                  <a:srgbClr val="808080"/>
                </a:solidFill>
                <a:latin typeface="Arial"/>
              </a:rPr>
              <a:t>/M/n/∞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Классификация СМО (Кендалл)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06960" y="1980000"/>
            <a:ext cx="7311960" cy="31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M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- экспоненциальное обслуживание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D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- фиксированное время обслуживания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G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- произвольное распределение времени обслуживания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Eₖ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- эрланговское обслуживание порядка k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PH (Phase-type)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- фазовое распределение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780000" y="1333440"/>
            <a:ext cx="2338920" cy="17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808080"/>
                </a:solidFill>
                <a:latin typeface="Arial"/>
              </a:rPr>
              <a:t>M/</a:t>
            </a:r>
            <a:r>
              <a:rPr b="1" lang="ru-RU" sz="3200" spc="-1" strike="noStrike">
                <a:solidFill>
                  <a:srgbClr val="000000"/>
                </a:solidFill>
                <a:latin typeface="Arial"/>
              </a:rPr>
              <a:t>M/</a:t>
            </a:r>
            <a:r>
              <a:rPr b="1" lang="ru-RU" sz="3200" spc="-1" strike="noStrike">
                <a:solidFill>
                  <a:srgbClr val="808080"/>
                </a:solidFill>
                <a:latin typeface="Arial"/>
              </a:rPr>
              <a:t>n/∞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Классификация СМО (Кендалл)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06960" y="1512000"/>
            <a:ext cx="7311960" cy="37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1 -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одноканальная система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n -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многоканальная система (конкретное число)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∞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-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бесконечное число каналов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∞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- неограниченная очередь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0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- система с отказами (нет очереди)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m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- ограниченная очередь (конкретное число мест)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PS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(Processor Sharing) - разделение процессора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LCFS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(Last Come First Served) - обратный порядок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PRI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(Priority) - приоритетное обслуживание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3780000" y="1045440"/>
            <a:ext cx="2338920" cy="17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808080"/>
                </a:solidFill>
                <a:latin typeface="Arial"/>
              </a:rPr>
              <a:t>M/M/</a:t>
            </a:r>
            <a:r>
              <a:rPr b="1" lang="ru-RU" sz="3200" spc="-1" strike="noStrike">
                <a:solidFill>
                  <a:srgbClr val="000000"/>
                </a:solidFill>
                <a:latin typeface="Arial"/>
              </a:rPr>
              <a:t>n/</a:t>
            </a:r>
            <a:r>
              <a:rPr b="1" lang="ru-RU" sz="3200" spc="-1" strike="noStrike">
                <a:solidFill>
                  <a:srgbClr val="808080"/>
                </a:solidFill>
                <a:latin typeface="Arial"/>
              </a:rPr>
              <a:t>∞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780000" y="2593080"/>
            <a:ext cx="2338920" cy="17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808080"/>
                </a:solidFill>
                <a:latin typeface="Arial"/>
              </a:rPr>
              <a:t>M/M/n/</a:t>
            </a:r>
            <a:r>
              <a:rPr b="1" lang="ru-RU" sz="3200" spc="-1" strike="noStrike">
                <a:solidFill>
                  <a:srgbClr val="000000"/>
                </a:solidFill>
                <a:latin typeface="Arial"/>
              </a:rPr>
              <a:t>∞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Классификация СМО (Кендалл)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94960" y="1620000"/>
            <a:ext cx="7311960" cy="33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M/D/2/5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G/G/1/∞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E₃/M/1/PS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M/H₂/3/0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M/M/1//N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M/G/1/LCFS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9" descr=""/>
          <p:cNvPicPr/>
          <p:nvPr/>
        </p:nvPicPr>
        <p:blipFill>
          <a:blip r:embed="rId1"/>
          <a:stretch/>
        </p:blipFill>
        <p:spPr>
          <a:xfrm>
            <a:off x="2160000" y="1949760"/>
            <a:ext cx="4318560" cy="320760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41720" cy="950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Типовые распределения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504000" y="1319760"/>
            <a:ext cx="8227800" cy="778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Равномерное распределение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/>
          </p:nvPr>
        </p:nvSpPr>
        <p:spPr>
          <a:xfrm>
            <a:off x="457200" y="133344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3200" spc="-1" strike="noStrike">
                <a:solidFill>
                  <a:schemeClr val="dk1"/>
                </a:solidFill>
                <a:latin typeface="Arial"/>
              </a:rPr>
              <a:t>Распределение Пуассона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Дискретное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 вероятностное распределение, которое моделирует количество событий, происходящих в </a:t>
            </a: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фиксированный интервал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 времени или пространства, при условии, что эти события происходят с </a:t>
            </a: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постоянной средней интенсивностью и независимо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 друг от друга.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10" descr=""/>
          <p:cNvPicPr/>
          <p:nvPr/>
        </p:nvPicPr>
        <p:blipFill>
          <a:blip r:embed="rId1"/>
          <a:stretch/>
        </p:blipFill>
        <p:spPr>
          <a:xfrm>
            <a:off x="1907640" y="1903320"/>
            <a:ext cx="5147280" cy="71820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11" descr=""/>
          <p:cNvPicPr/>
          <p:nvPr/>
        </p:nvPicPr>
        <p:blipFill>
          <a:blip r:embed="rId2"/>
          <a:stretch/>
        </p:blipFill>
        <p:spPr>
          <a:xfrm>
            <a:off x="900000" y="2714400"/>
            <a:ext cx="6838920" cy="46044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184"/>
          <p:cNvSpPr/>
          <p:nvPr/>
        </p:nvSpPr>
        <p:spPr>
          <a:xfrm>
            <a:off x="457200" y="228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Типовые распределения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/>
          </p:nvPr>
        </p:nvSpPr>
        <p:spPr>
          <a:xfrm>
            <a:off x="457200" y="109332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Параметр распределения Пуассона представляет собой среднее количество событий в заданном интервале, а</a:t>
            </a:r>
            <a:r>
              <a:rPr b="0" i="1" lang="ru-RU" sz="20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также равен дисперсии распределения.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Значение распределения Пуассона при фиксированном </a:t>
            </a:r>
            <a:r>
              <a:rPr b="0" i="1" lang="ru-RU" sz="2000" spc="-1" strike="noStrike">
                <a:solidFill>
                  <a:schemeClr val="dk1"/>
                </a:solidFill>
                <a:latin typeface="Arial"/>
              </a:rPr>
              <a:t>k 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даёт вероятность того, что произойдет ровно </a:t>
            </a:r>
            <a:r>
              <a:rPr b="0" i="1" lang="ru-RU" sz="2000" spc="-1" strike="noStrike">
                <a:solidFill>
                  <a:schemeClr val="dk1"/>
                </a:solidFill>
                <a:latin typeface="Arial"/>
              </a:rPr>
              <a:t>k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 событий.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События должны происходить независимо друг от друга. Вероятность наступления события в малом интервале времени пропорциональна длине этого интервала.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Подходит для моделирования «редких» событий.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Picture 12" descr=""/>
          <p:cNvPicPr/>
          <p:nvPr/>
        </p:nvPicPr>
        <p:blipFill>
          <a:blip r:embed="rId1"/>
          <a:stretch/>
        </p:blipFill>
        <p:spPr>
          <a:xfrm>
            <a:off x="2088000" y="4416120"/>
            <a:ext cx="4750920" cy="718200"/>
          </a:xfrm>
          <a:prstGeom prst="rect">
            <a:avLst/>
          </a:prstGeom>
          <a:ln w="0">
            <a:noFill/>
          </a:ln>
        </p:spPr>
      </p:pic>
      <p:sp>
        <p:nvSpPr>
          <p:cNvPr id="93" name="PlaceHolder 104"/>
          <p:cNvSpPr/>
          <p:nvPr/>
        </p:nvSpPr>
        <p:spPr>
          <a:xfrm>
            <a:off x="457200" y="120600"/>
            <a:ext cx="692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Распределение Пуассона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/>
          </p:nvPr>
        </p:nvSpPr>
        <p:spPr>
          <a:xfrm>
            <a:off x="457200" y="124344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Телекоммуникации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: Количество звонков, поступающих на телефонную станцию за определенный промежуток времени.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Транспорт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: Количество аварий на дороге за день.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Медицина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: Количество пациентов, поступающих в отделение неотложной помощи за час.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Производство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: Количество отказов оборудования на производстве за месяц.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Биология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: Количество мутаций в данной цепочке ДНК.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Ритейл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: Количество покупателей, посещающих магазин за час.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2376000" y="4538160"/>
            <a:ext cx="3238560" cy="691560"/>
          </a:xfrm>
          <a:prstGeom prst="rect">
            <a:avLst/>
          </a:prstGeom>
          <a:ln w="0">
            <a:noFill/>
          </a:ln>
        </p:spPr>
      </p:pic>
      <p:sp>
        <p:nvSpPr>
          <p:cNvPr id="96" name="PlaceHolder 109"/>
          <p:cNvSpPr/>
          <p:nvPr/>
        </p:nvSpPr>
        <p:spPr>
          <a:xfrm>
            <a:off x="457200" y="84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Применение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457200" y="133344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3200" spc="-1" strike="noStrike">
                <a:solidFill>
                  <a:schemeClr val="dk1"/>
                </a:solidFill>
                <a:latin typeface="Arial"/>
              </a:rPr>
              <a:t>Геометрическое распределение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Дискретное вероятностное распределение, которое моделирует количество испытаний, необходимых для достижения первого успеха в последовательности независимых испытаний. Оно широко используется в теории вероятностей и статистике для анализа процессов, где важно определить, сколько попыток потребуется до первого успеха.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13" descr=""/>
          <p:cNvPicPr/>
          <p:nvPr/>
        </p:nvPicPr>
        <p:blipFill>
          <a:blip r:embed="rId1"/>
          <a:stretch/>
        </p:blipFill>
        <p:spPr>
          <a:xfrm>
            <a:off x="1836000" y="2107440"/>
            <a:ext cx="5434560" cy="40032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14" descr=""/>
          <p:cNvPicPr/>
          <p:nvPr/>
        </p:nvPicPr>
        <p:blipFill>
          <a:blip r:embed="rId2"/>
          <a:stretch/>
        </p:blipFill>
        <p:spPr>
          <a:xfrm>
            <a:off x="2087640" y="2683800"/>
            <a:ext cx="4679280" cy="260280"/>
          </a:xfrm>
          <a:prstGeom prst="rect">
            <a:avLst/>
          </a:prstGeom>
          <a:ln w="0">
            <a:noFill/>
          </a:ln>
        </p:spPr>
      </p:pic>
      <p:sp>
        <p:nvSpPr>
          <p:cNvPr id="100" name="PlaceHolder 114"/>
          <p:cNvSpPr/>
          <p:nvPr/>
        </p:nvSpPr>
        <p:spPr>
          <a:xfrm>
            <a:off x="457200" y="120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Типовые распределения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/>
          </p:nvPr>
        </p:nvSpPr>
        <p:spPr>
          <a:xfrm>
            <a:off x="457200" y="130932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Геометрическое распределение описывает дискретные случайные величины, которые могут принимать значения 1, 2, 3, ... (количество испытаний до первого успеха).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Распределение характеризуется одним параметром, который представляет собой вероятность успеха в каждом отдельном испытании.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Геометрическое распределение обладает свойством отсутствия памяти. Это означает, что вероятность успеха на следующем шаге не зависит от того, сколько неудач уже произошло.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17" descr=""/>
          <p:cNvPicPr/>
          <p:nvPr/>
        </p:nvPicPr>
        <p:blipFill>
          <a:blip r:embed="rId1"/>
          <a:stretch/>
        </p:blipFill>
        <p:spPr>
          <a:xfrm>
            <a:off x="2088000" y="4494600"/>
            <a:ext cx="4858920" cy="40032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119"/>
          <p:cNvSpPr/>
          <p:nvPr/>
        </p:nvSpPr>
        <p:spPr>
          <a:xfrm>
            <a:off x="450000" y="141840"/>
            <a:ext cx="746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200" spc="-1" strike="noStrike">
                <a:solidFill>
                  <a:srgbClr val="ffffff"/>
                </a:solidFill>
                <a:latin typeface="Arial"/>
              </a:rPr>
              <a:t>Геометрическое распределение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457200" y="124344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Теория вероятностей: Количество попыток до первого выигрыша в лотерее.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Инженерия и телекоммуникации: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Количество передач данных до первой успешной доставки.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Количество испытаний до первого отказа оборудования.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Экономика и финансы: моделирование времени до дефолта.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Игры и симуляции: моделирование в компьютерных играх.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980000" y="4029840"/>
            <a:ext cx="4669560" cy="38520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124"/>
          <p:cNvSpPr/>
          <p:nvPr/>
        </p:nvSpPr>
        <p:spPr>
          <a:xfrm>
            <a:off x="457200" y="84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Применение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457200" y="133344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3200" spc="-1" strike="noStrike">
                <a:solidFill>
                  <a:schemeClr val="dk1"/>
                </a:solidFill>
                <a:latin typeface="Arial"/>
              </a:rPr>
              <a:t>Экспоненциальное распределение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Непрерывное вероятностное распределение, которое моделирует время между событиями в процессе, где события происходят независимо и с постоянной средней интенсивностью. Широко используется в теории вероятностей, статистике и различных прикладных областях.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2733840" y="2034000"/>
            <a:ext cx="3421440" cy="56880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2"/>
          <a:stretch/>
        </p:blipFill>
        <p:spPr>
          <a:xfrm>
            <a:off x="2880000" y="2603880"/>
            <a:ext cx="3198240" cy="351720"/>
          </a:xfrm>
          <a:prstGeom prst="rect">
            <a:avLst/>
          </a:prstGeom>
          <a:ln w="0">
            <a:noFill/>
          </a:ln>
        </p:spPr>
      </p:pic>
      <p:sp>
        <p:nvSpPr>
          <p:cNvPr id="110" name="PlaceHolder 129"/>
          <p:cNvSpPr/>
          <p:nvPr/>
        </p:nvSpPr>
        <p:spPr>
          <a:xfrm>
            <a:off x="457200" y="120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Типовые распределения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/>
          </p:nvPr>
        </p:nvSpPr>
        <p:spPr>
          <a:xfrm>
            <a:off x="457200" y="1273320"/>
            <a:ext cx="836136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Экспоненциальное распределение описывает непрерывные случайные величины, которые могут принимать неотрицательные значения (время, расстояние)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Распределение характеризуется одним параметром, который представляет собой интенсивность событий (среднее количество событий в единицу времени). Обратное значение — среднее время между событиями.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Экспоненциальное распределение обладает свойством отсутствия памяти. Это означает, что вероятность наступления события в будущем не зависит от того, сколько времени уже прошло.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2823480" y="4394880"/>
            <a:ext cx="2863440" cy="541800"/>
          </a:xfrm>
          <a:prstGeom prst="rect">
            <a:avLst/>
          </a:prstGeom>
          <a:ln w="0">
            <a:noFill/>
          </a:ln>
        </p:spPr>
      </p:pic>
      <p:sp>
        <p:nvSpPr>
          <p:cNvPr id="113" name="PlaceHolder 134"/>
          <p:cNvSpPr/>
          <p:nvPr/>
        </p:nvSpPr>
        <p:spPr>
          <a:xfrm>
            <a:off x="457200" y="120600"/>
            <a:ext cx="692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Экспоненциальное распределение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/>
          </p:nvPr>
        </p:nvSpPr>
        <p:spPr>
          <a:xfrm>
            <a:off x="457200" y="124344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Телекоммуникации: анализ интервалов между пакетами данных в сетях.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Инженерия и надежность: моделирование времени до отказа оборудования или компонентов.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Финансы и экономика: моделирование времени между транзакциями или изменениями на рынке.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Страхование: анализ времени до наступления страхового случая.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Биология и медицина: моделирование времени между поступлением пациентов в больницу.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Транспорт и логистика: моделирование времени между прибытием транспортных средств на остановку.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1769040" y="4779000"/>
            <a:ext cx="4992120" cy="390960"/>
          </a:xfrm>
          <a:prstGeom prst="rect">
            <a:avLst/>
          </a:prstGeom>
          <a:ln w="0">
            <a:noFill/>
          </a:ln>
        </p:spPr>
      </p:pic>
      <p:sp>
        <p:nvSpPr>
          <p:cNvPr id="116" name="PlaceHolder 139"/>
          <p:cNvSpPr/>
          <p:nvPr/>
        </p:nvSpPr>
        <p:spPr>
          <a:xfrm>
            <a:off x="457200" y="84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Применение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/>
          </p:nvPr>
        </p:nvSpPr>
        <p:spPr>
          <a:xfrm>
            <a:off x="457200" y="133344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3200" spc="-1" strike="noStrike">
                <a:solidFill>
                  <a:schemeClr val="dk1"/>
                </a:solidFill>
                <a:latin typeface="Arial"/>
              </a:rPr>
              <a:t>Гамма-распределение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15000"/>
              </a:lnSpc>
              <a:spcBef>
                <a:spcPts val="2608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Двухпараметрическое непрерывное вероятностное распределение, которое обобщает экспоненциальное распределение. Используется в статистике, теории вероятностей и прикладных науках для моделирования положительных непрерывных величин.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2570400" y="2045880"/>
            <a:ext cx="3966480" cy="748800"/>
          </a:xfrm>
          <a:prstGeom prst="rect">
            <a:avLst/>
          </a:prstGeom>
          <a:ln w="0">
            <a:noFill/>
          </a:ln>
        </p:spPr>
      </p:pic>
      <p:pic>
        <p:nvPicPr>
          <p:cNvPr id="119" name="" descr=""/>
          <p:cNvPicPr/>
          <p:nvPr/>
        </p:nvPicPr>
        <p:blipFill>
          <a:blip r:embed="rId2"/>
          <a:stretch/>
        </p:blipFill>
        <p:spPr>
          <a:xfrm>
            <a:off x="2998440" y="2745360"/>
            <a:ext cx="2921400" cy="637200"/>
          </a:xfrm>
          <a:prstGeom prst="rect">
            <a:avLst/>
          </a:prstGeom>
          <a:ln w="0">
            <a:noFill/>
          </a:ln>
        </p:spPr>
      </p:pic>
      <p:sp>
        <p:nvSpPr>
          <p:cNvPr id="120" name="PlaceHolder 14"/>
          <p:cNvSpPr/>
          <p:nvPr/>
        </p:nvSpPr>
        <p:spPr>
          <a:xfrm>
            <a:off x="457200" y="120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Типовые распределения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/>
          </p:nvPr>
        </p:nvSpPr>
        <p:spPr>
          <a:xfrm>
            <a:off x="457200" y="1237320"/>
            <a:ext cx="836136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Гамма-распределение описывает непрерывные случайные величины, которые могут принимать только положительные значения (время, расстояние)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При </a:t>
            </a:r>
            <a:r>
              <a:rPr b="0" i="1" lang="ru-RU" sz="1800" spc="-1" strike="noStrike">
                <a:solidFill>
                  <a:schemeClr val="dk1"/>
                </a:solidFill>
                <a:latin typeface="Arial"/>
              </a:rPr>
              <a:t>α = 1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гамма-распределение сводится к экспоненциальному распределению.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Если независимые случайные величины распределены по гамма-распределению, то их сумма также имеет гамма-распределение.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2412000" y="4163760"/>
            <a:ext cx="3966480" cy="748800"/>
          </a:xfrm>
          <a:prstGeom prst="rect">
            <a:avLst/>
          </a:prstGeom>
          <a:ln w="0">
            <a:noFill/>
          </a:ln>
        </p:spPr>
      </p:pic>
      <p:sp>
        <p:nvSpPr>
          <p:cNvPr id="123" name="PlaceHolder 15"/>
          <p:cNvSpPr/>
          <p:nvPr/>
        </p:nvSpPr>
        <p:spPr>
          <a:xfrm>
            <a:off x="457200" y="120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Гамма-распределение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/>
          </p:nvPr>
        </p:nvSpPr>
        <p:spPr>
          <a:xfrm>
            <a:off x="457200" y="126576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Теория вероятностей и статистика: моделирование суммы нескольких экспоненциально распределенных случайных величин.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Инженерия и надежность: моделирование времени до отказа системы, состоящей из нескольких компонентов.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Финансы и экономика: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Моделирование размеров страховых выплат или убытков.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Анализ времени между транзакциями или изменениями на рынке.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Биология и медицина: моделирование времени восстановления пациентов.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Метеорология и экология: моделирование количества осадков за определенный период.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Телекоммуникации: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Моделирование времени между пакетами данных.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Анализ задержек в системах передачи данных.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6"/>
          <p:cNvSpPr/>
          <p:nvPr/>
        </p:nvSpPr>
        <p:spPr>
          <a:xfrm>
            <a:off x="457200" y="84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Применение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/>
          </p:nvPr>
        </p:nvSpPr>
        <p:spPr>
          <a:xfrm>
            <a:off x="457200" y="133344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3200" spc="-1" strike="noStrike">
                <a:solidFill>
                  <a:schemeClr val="dk1"/>
                </a:solidFill>
                <a:latin typeface="Arial"/>
              </a:rPr>
              <a:t>Распределение Эрланга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15000"/>
              </a:lnSpc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Частный случай гамма-распределения, который широко используется в теории массового обслуживания, телекоммуникациях и других областях для моделирования времени между событиями или времени обслуживания.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2916000" y="2063880"/>
            <a:ext cx="3056760" cy="7488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tretch/>
        </p:blipFill>
        <p:spPr>
          <a:xfrm>
            <a:off x="2952000" y="2826000"/>
            <a:ext cx="3051000" cy="687600"/>
          </a:xfrm>
          <a:prstGeom prst="rect">
            <a:avLst/>
          </a:prstGeom>
          <a:ln w="0">
            <a:noFill/>
          </a:ln>
        </p:spPr>
      </p:pic>
      <p:sp>
        <p:nvSpPr>
          <p:cNvPr id="129" name="PlaceHolder 17"/>
          <p:cNvSpPr/>
          <p:nvPr/>
        </p:nvSpPr>
        <p:spPr>
          <a:xfrm>
            <a:off x="457200" y="120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Типовые распределения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/>
          </p:nvPr>
        </p:nvSpPr>
        <p:spPr>
          <a:xfrm>
            <a:off x="457200" y="1478520"/>
            <a:ext cx="836136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Распределение Эрланга описывает непрерывные случайные величины, которые могут принимать только положительные значения (время, расстояние)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При </a:t>
            </a:r>
            <a:r>
              <a:rPr b="0" i="1" lang="ru-RU" sz="1800" spc="-1" strike="noStrike">
                <a:solidFill>
                  <a:schemeClr val="dk1"/>
                </a:solidFill>
                <a:latin typeface="Arial"/>
              </a:rPr>
              <a:t>k=1 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распределение Эрланга сводится к экспоненциальному распределению.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Распределение Эрланга является частным случаем гамма-распределения, где параметр формы целое число.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2736000" y="4079880"/>
            <a:ext cx="3416760" cy="748800"/>
          </a:xfrm>
          <a:prstGeom prst="rect">
            <a:avLst/>
          </a:prstGeom>
          <a:ln w="0">
            <a:noFill/>
          </a:ln>
        </p:spPr>
      </p:pic>
      <p:sp>
        <p:nvSpPr>
          <p:cNvPr id="132" name="PlaceHolder 18"/>
          <p:cNvSpPr/>
          <p:nvPr/>
        </p:nvSpPr>
        <p:spPr>
          <a:xfrm>
            <a:off x="457200" y="120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Распределение Эрланга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457200" y="130788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Теория массового обслуживания: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Моделирование времени обслуживания в системах с несколькими этапами.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Анализ времени ожидания в очередях.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Телекоммуникации: анализ времени передачи данных в сетях.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Инженерия и надежность: моделирование времени до отказа системы, состоящей из нескольких компонентов.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Транспорт и логистика: анализ времени обработки заказов в системах управления запасами.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Финансы и экономика: моделирование времени между транзакциями или изменениями на рынке.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6"/>
          <p:cNvSpPr/>
          <p:nvPr/>
        </p:nvSpPr>
        <p:spPr>
          <a:xfrm>
            <a:off x="457200" y="84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Применение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/>
          </p:nvPr>
        </p:nvSpPr>
        <p:spPr>
          <a:xfrm>
            <a:off x="457200" y="133344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3200" spc="-1" strike="noStrike">
                <a:solidFill>
                  <a:schemeClr val="dk1"/>
                </a:solidFill>
                <a:latin typeface="Arial"/>
              </a:rPr>
              <a:t>Нормальное распределение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Нормальное распределение (Гаусса) — фундаментальное распределение для статистики.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Центральная предельная теорема: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 сумма большого числа независимых случайных величин с конечными средними и дисперсиями стремится к нормальному распределению, независимо от исходных распределений. 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3461400" y="2129760"/>
            <a:ext cx="2483280" cy="748800"/>
          </a:xfrm>
          <a:prstGeom prst="rect">
            <a:avLst/>
          </a:prstGeom>
          <a:ln w="0">
            <a:noFill/>
          </a:ln>
        </p:spPr>
      </p:pic>
      <p:sp>
        <p:nvSpPr>
          <p:cNvPr id="137" name="PlaceHolder 7"/>
          <p:cNvSpPr/>
          <p:nvPr/>
        </p:nvSpPr>
        <p:spPr>
          <a:xfrm>
            <a:off x="457200" y="120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Типовые распределения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/>
          </p:nvPr>
        </p:nvSpPr>
        <p:spPr>
          <a:xfrm>
            <a:off x="457200" y="133344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ru-RU" sz="3200" spc="-1" strike="noStrike">
                <a:solidFill>
                  <a:schemeClr val="dk1"/>
                </a:solidFill>
                <a:latin typeface="Arial"/>
              </a:rPr>
              <a:t>Фазовое распределение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Класс вероятностных распределений, который моделирует время обслуживания в СМО как прохождение заявки через последовательность "фаз" (состояний) перед выходом из системы.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Обобщает стандартные распределения и позволяет анализировать сложные системы с зависимостями между событиями.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12"/>
          <p:cNvSpPr/>
          <p:nvPr/>
        </p:nvSpPr>
        <p:spPr>
          <a:xfrm>
            <a:off x="457200" y="120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Типовые распределения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/>
          </p:nvPr>
        </p:nvSpPr>
        <p:spPr>
          <a:xfrm>
            <a:off x="457200" y="1478520"/>
            <a:ext cx="836136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Состоит из конечного числа фаз (состояний).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Заявка переходит между фазами по заданным вероятностям.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Выход из системы возможен из любой фазы.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Задается: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Начальным вектором вероятностей фаз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Матрицей переходов между фазами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Вектором поглощения (выхода из системы с каждой фазы)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5"/>
          <p:cNvSpPr/>
          <p:nvPr/>
        </p:nvSpPr>
        <p:spPr>
          <a:xfrm>
            <a:off x="457200" y="120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Фазовое распределение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6264000" y="3024000"/>
            <a:ext cx="2084760" cy="37980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5810400" y="3430080"/>
            <a:ext cx="342000" cy="29412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3"/>
          <a:stretch/>
        </p:blipFill>
        <p:spPr>
          <a:xfrm>
            <a:off x="3150360" y="4345920"/>
            <a:ext cx="2608920" cy="51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/>
          </p:nvPr>
        </p:nvSpPr>
        <p:spPr>
          <a:xfrm>
            <a:off x="457200" y="1406520"/>
            <a:ext cx="836136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Экспоненциальное (M):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Частный случай PH с одной фазой.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Пример: время обслуживания в простейшей СМО.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Распределение Эрланга (Eₖ):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Последовательность из kk одинаковых экспоненциальных фаз.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Моделирует сумму независимых экспоненциальных случайных величин.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Гиперэкспоненциальное (Hₖ):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Параллельные экспоненциальные фазы с разными параметрами.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Пример: обслуживание с разными режимами (быстро/медленно).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Кокс (Coxian):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Последовательность фаз с возможностью выхода на каждом шаге.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2"/>
          <p:cNvSpPr/>
          <p:nvPr/>
        </p:nvSpPr>
        <p:spPr>
          <a:xfrm>
            <a:off x="457200" y="120600"/>
            <a:ext cx="584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Фазовое распределение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Заголовок 1"/>
          <p:cNvSpPr/>
          <p:nvPr/>
        </p:nvSpPr>
        <p:spPr>
          <a:xfrm>
            <a:off x="611280" y="274680"/>
            <a:ext cx="62280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2200" spc="-1" strike="noStrike">
                <a:solidFill>
                  <a:srgbClr val="ffffff"/>
                </a:solidFill>
                <a:latin typeface="Arial"/>
              </a:rPr>
              <a:t>Моделирование случайной величины с произвольным законом распределения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395280" y="1268640"/>
            <a:ext cx="7704000" cy="21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Если случайная величина имеет плотность распределения вероятности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    </a:t>
            </a: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      , то распределение случайной величины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равномерно в интервале 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[0, 1].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Arial"/>
              </a:rPr>
              <a:t>Из теоремы следует, что: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Picture 2" descr="f (y)"/>
          <p:cNvPicPr/>
          <p:nvPr/>
        </p:nvPicPr>
        <p:blipFill>
          <a:blip r:embed="rId1"/>
          <a:stretch/>
        </p:blipFill>
        <p:spPr>
          <a:xfrm>
            <a:off x="7308000" y="1272600"/>
            <a:ext cx="582480" cy="318960"/>
          </a:xfrm>
          <a:prstGeom prst="rect">
            <a:avLst/>
          </a:prstGeom>
          <a:ln w="0">
            <a:noFill/>
          </a:ln>
        </p:spPr>
      </p:pic>
      <p:pic>
        <p:nvPicPr>
          <p:cNvPr id="150" name="Picture 4" descr="F(y)=\int\limits_{-\infty}^{y}{f(y)dy}"/>
          <p:cNvPicPr/>
          <p:nvPr/>
        </p:nvPicPr>
        <p:blipFill>
          <a:blip r:embed="rId2"/>
          <a:stretch/>
        </p:blipFill>
        <p:spPr>
          <a:xfrm>
            <a:off x="1403280" y="1844640"/>
            <a:ext cx="1726920" cy="75708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6" descr="Иллюстрация к методу обратной функции Из (3.1) следует:"/>
          <p:cNvPicPr/>
          <p:nvPr/>
        </p:nvPicPr>
        <p:blipFill>
          <a:blip r:embed="rId3"/>
          <a:stretch/>
        </p:blipFill>
        <p:spPr>
          <a:xfrm>
            <a:off x="5040000" y="1953000"/>
            <a:ext cx="3436200" cy="1191960"/>
          </a:xfrm>
          <a:prstGeom prst="rect">
            <a:avLst/>
          </a:prstGeom>
          <a:ln w="0">
            <a:noFill/>
          </a:ln>
        </p:spPr>
      </p:pic>
      <p:pic>
        <p:nvPicPr>
          <p:cNvPr id="152" name="Picture 15" descr="y_{i}=F^{-1} ( x_{i})."/>
          <p:cNvPicPr/>
          <p:nvPr/>
        </p:nvPicPr>
        <p:blipFill>
          <a:blip r:embed="rId4"/>
          <a:stretch/>
        </p:blipFill>
        <p:spPr>
          <a:xfrm>
            <a:off x="2987640" y="3788640"/>
            <a:ext cx="1425240" cy="287280"/>
          </a:xfrm>
          <a:prstGeom prst="rect">
            <a:avLst/>
          </a:prstGeom>
          <a:ln w="0">
            <a:noFill/>
          </a:ln>
        </p:spPr>
      </p:pic>
      <p:sp>
        <p:nvSpPr>
          <p:cNvPr id="153" name="Rectangle 4"/>
          <p:cNvSpPr/>
          <p:nvPr/>
        </p:nvSpPr>
        <p:spPr>
          <a:xfrm>
            <a:off x="395280" y="4500000"/>
            <a:ext cx="4822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Приближенный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метод - кусочно-линейная аппроксимация функции распределения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Picture 16" descr="Иллюстрация к методу кусочно-линейной аппроксимации"/>
          <p:cNvPicPr/>
          <p:nvPr/>
        </p:nvPicPr>
        <p:blipFill>
          <a:blip r:embed="rId5"/>
          <a:stretch/>
        </p:blipFill>
        <p:spPr>
          <a:xfrm>
            <a:off x="5076000" y="3351240"/>
            <a:ext cx="3419280" cy="1766520"/>
          </a:xfrm>
          <a:prstGeom prst="rect">
            <a:avLst/>
          </a:prstGeom>
          <a:ln w="0">
            <a:noFill/>
          </a:ln>
        </p:spPr>
      </p:pic>
      <p:pic>
        <p:nvPicPr>
          <p:cNvPr id="155" name="Picture 18" descr=""/>
          <p:cNvPicPr/>
          <p:nvPr/>
        </p:nvPicPr>
        <p:blipFill>
          <a:blip r:embed="rId6"/>
          <a:stretch/>
        </p:blipFill>
        <p:spPr>
          <a:xfrm>
            <a:off x="842760" y="3466440"/>
            <a:ext cx="1350720" cy="96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Методы анализа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06960" y="1561320"/>
            <a:ext cx="7311960" cy="31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Аналитические расчеты, формулы Эрланга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Теорема Джексона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Имитационное моделирование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Агентное моделирование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pc="-1" strike="noStrike">
                <a:solidFill>
                  <a:srgbClr val="000000"/>
                </a:solidFill>
                <a:latin typeface="Arial"/>
                <a:ea typeface="Noto Sans CJK SC"/>
              </a:rPr>
              <a:t>Графический анализ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Одноканальная СМО с отказами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540000" y="1260000"/>
            <a:ext cx="2583720" cy="149364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2946960" y="1248120"/>
            <a:ext cx="5691960" cy="16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</a:rPr>
              <a:t>Автомойка самообслуживания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</a:rPr>
              <a:t>Одноканальная СМО с отказами M/M/1/0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Интенсивность потока машин (λ): 6 машин/час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Интенсивность обслуживания (μ): 8 машин/час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Система без очереди: при занятости мойки клиент уезжает (отказ)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Время работы: 12 часов/день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2"/>
          <a:stretch/>
        </p:blipFill>
        <p:spPr>
          <a:xfrm>
            <a:off x="1548000" y="3228120"/>
            <a:ext cx="1438920" cy="478800"/>
          </a:xfrm>
          <a:prstGeom prst="rect">
            <a:avLst/>
          </a:prstGeom>
          <a:ln w="0">
            <a:noFill/>
          </a:ln>
        </p:spPr>
      </p:pic>
      <p:pic>
        <p:nvPicPr>
          <p:cNvPr id="162" name="" descr=""/>
          <p:cNvPicPr/>
          <p:nvPr/>
        </p:nvPicPr>
        <p:blipFill>
          <a:blip r:embed="rId3"/>
          <a:stretch/>
        </p:blipFill>
        <p:spPr>
          <a:xfrm>
            <a:off x="4392000" y="3178440"/>
            <a:ext cx="2698920" cy="456480"/>
          </a:xfrm>
          <a:prstGeom prst="rect">
            <a:avLst/>
          </a:prstGeom>
          <a:ln w="0">
            <a:noFill/>
          </a:ln>
        </p:spPr>
      </p:pic>
      <p:pic>
        <p:nvPicPr>
          <p:cNvPr id="163" name="" descr=""/>
          <p:cNvPicPr/>
          <p:nvPr/>
        </p:nvPicPr>
        <p:blipFill>
          <a:blip r:embed="rId4"/>
          <a:stretch/>
        </p:blipFill>
        <p:spPr>
          <a:xfrm>
            <a:off x="1836000" y="4104000"/>
            <a:ext cx="4097880" cy="237240"/>
          </a:xfrm>
          <a:prstGeom prst="rect">
            <a:avLst/>
          </a:prstGeom>
          <a:ln w="0">
            <a:noFill/>
          </a:ln>
        </p:spPr>
      </p:pic>
      <p:pic>
        <p:nvPicPr>
          <p:cNvPr id="164" name="" descr=""/>
          <p:cNvPicPr/>
          <p:nvPr/>
        </p:nvPicPr>
        <p:blipFill>
          <a:blip r:embed="rId5"/>
          <a:stretch/>
        </p:blipFill>
        <p:spPr>
          <a:xfrm>
            <a:off x="2700000" y="4896000"/>
            <a:ext cx="2158920" cy="243360"/>
          </a:xfrm>
          <a:prstGeom prst="rect">
            <a:avLst/>
          </a:prstGeom>
          <a:ln w="0">
            <a:noFill/>
          </a:ln>
        </p:spPr>
      </p:pic>
      <p:sp>
        <p:nvSpPr>
          <p:cNvPr id="165" name=""/>
          <p:cNvSpPr/>
          <p:nvPr/>
        </p:nvSpPr>
        <p:spPr>
          <a:xfrm>
            <a:off x="1440000" y="2959560"/>
            <a:ext cx="233892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Коэффициент загрузки: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932000" y="2916360"/>
            <a:ext cx="418932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Вероятность отказа: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2826360" y="3785400"/>
            <a:ext cx="289656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Пропускная способность: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2522520" y="4541400"/>
            <a:ext cx="320040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Среднее число занятых каналов: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Экономический анализ 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06960" y="1243800"/>
            <a:ext cx="7311960" cy="33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Потери клиентов: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42.9% машин не обслуживаются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6x12x0.429 = 51 машина/день уезжает без мойки.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Доходность: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3.43×12×500 ≈ 20,580 руб/день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При стоимости мойки 500 руб: Потери = 51×500 = 25,500 руб/день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Варианты оптимизации: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1. Увеличение скорости обслуживания (μ): μ → 10 машин/час: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Потери = 27×500 = 13,500 руб/день (+12,000)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2. Добавление второго канала (переход на M/M/2/0):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620000" y="3312000"/>
            <a:ext cx="1944720" cy="251640"/>
          </a:xfrm>
          <a:prstGeom prst="rect">
            <a:avLst/>
          </a:prstGeom>
          <a:ln w="0">
            <a:noFill/>
          </a:ln>
        </p:spPr>
      </p:pic>
      <p:pic>
        <p:nvPicPr>
          <p:cNvPr id="172" name="" descr=""/>
          <p:cNvPicPr/>
          <p:nvPr/>
        </p:nvPicPr>
        <p:blipFill>
          <a:blip r:embed="rId2"/>
          <a:stretch/>
        </p:blipFill>
        <p:spPr>
          <a:xfrm>
            <a:off x="1368000" y="4356000"/>
            <a:ext cx="2768400" cy="459360"/>
          </a:xfrm>
          <a:prstGeom prst="rect">
            <a:avLst/>
          </a:prstGeom>
          <a:ln w="0">
            <a:noFill/>
          </a:ln>
        </p:spPr>
      </p:pic>
      <p:sp>
        <p:nvSpPr>
          <p:cNvPr id="173" name=""/>
          <p:cNvSpPr/>
          <p:nvPr/>
        </p:nvSpPr>
        <p:spPr>
          <a:xfrm>
            <a:off x="607320" y="4816440"/>
            <a:ext cx="33876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Потери = 10×500 = 5,000 руб/день (+20,500)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3"/>
          <a:stretch/>
        </p:blipFill>
        <p:spPr>
          <a:xfrm>
            <a:off x="6035040" y="1281960"/>
            <a:ext cx="2618640" cy="1956960"/>
          </a:xfrm>
          <a:prstGeom prst="rect">
            <a:avLst/>
          </a:prstGeom>
          <a:ln w="0">
            <a:noFill/>
          </a:ln>
        </p:spPr>
      </p:pic>
      <p:pic>
        <p:nvPicPr>
          <p:cNvPr id="175" name="" descr=""/>
          <p:cNvPicPr/>
          <p:nvPr/>
        </p:nvPicPr>
        <p:blipFill>
          <a:blip r:embed="rId4"/>
          <a:stretch/>
        </p:blipFill>
        <p:spPr>
          <a:xfrm>
            <a:off x="5995440" y="3315960"/>
            <a:ext cx="2643480" cy="202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9999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Многоканальная СМО с очередью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2946960" y="1248120"/>
            <a:ext cx="5691960" cy="16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</a:rPr>
              <a:t>Call-центр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</a:rPr>
              <a:t>Многоканальная СМО с ожиданием M/M/n/∞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ru-RU" sz="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Интенсивность входящих вызовов (λ): 30 вызовов/час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Интенсивность обслуживания одного оператора (μ): 5 вызовов/час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Количество операторов (n): 10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Длина очереди: неограничена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Целевое время ожидания: ≤ 1 минуты (≈ 0.0167 часа)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440000" y="2959560"/>
            <a:ext cx="233892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Коэффициент загрузки: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4932000" y="2916360"/>
            <a:ext cx="418932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Вероятность ожидания: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2826360" y="3785400"/>
            <a:ext cx="289656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Среднее время ожидания в очереди: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2882520" y="4541400"/>
            <a:ext cx="320040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Среднее число вызовов в очереди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618840" y="1257120"/>
            <a:ext cx="2168640" cy="1442160"/>
          </a:xfrm>
          <a:prstGeom prst="rect">
            <a:avLst/>
          </a:prstGeom>
          <a:ln w="0">
            <a:noFill/>
          </a:ln>
        </p:spPr>
      </p:pic>
      <p:pic>
        <p:nvPicPr>
          <p:cNvPr id="183" name="" descr=""/>
          <p:cNvPicPr/>
          <p:nvPr/>
        </p:nvPicPr>
        <p:blipFill>
          <a:blip r:embed="rId2"/>
          <a:stretch/>
        </p:blipFill>
        <p:spPr>
          <a:xfrm>
            <a:off x="1440000" y="3240000"/>
            <a:ext cx="1834560" cy="475200"/>
          </a:xfrm>
          <a:prstGeom prst="rect">
            <a:avLst/>
          </a:prstGeom>
          <a:ln w="0">
            <a:noFill/>
          </a:ln>
        </p:spPr>
      </p:pic>
      <p:pic>
        <p:nvPicPr>
          <p:cNvPr id="184" name="" descr=""/>
          <p:cNvPicPr/>
          <p:nvPr/>
        </p:nvPicPr>
        <p:blipFill>
          <a:blip r:embed="rId3"/>
          <a:stretch/>
        </p:blipFill>
        <p:spPr>
          <a:xfrm>
            <a:off x="4588920" y="3175920"/>
            <a:ext cx="2358360" cy="644760"/>
          </a:xfrm>
          <a:prstGeom prst="rect">
            <a:avLst/>
          </a:prstGeom>
          <a:ln w="0">
            <a:noFill/>
          </a:ln>
        </p:spPr>
      </p:pic>
      <p:pic>
        <p:nvPicPr>
          <p:cNvPr id="185" name="" descr=""/>
          <p:cNvPicPr/>
          <p:nvPr/>
        </p:nvPicPr>
        <p:blipFill>
          <a:blip r:embed="rId4"/>
          <a:stretch/>
        </p:blipFill>
        <p:spPr>
          <a:xfrm>
            <a:off x="6948000" y="3299400"/>
            <a:ext cx="542880" cy="299880"/>
          </a:xfrm>
          <a:prstGeom prst="rect">
            <a:avLst/>
          </a:prstGeom>
          <a:ln w="0">
            <a:noFill/>
          </a:ln>
        </p:spPr>
      </p:pic>
      <p:pic>
        <p:nvPicPr>
          <p:cNvPr id="186" name="" descr=""/>
          <p:cNvPicPr/>
          <p:nvPr/>
        </p:nvPicPr>
        <p:blipFill>
          <a:blip r:embed="rId5"/>
          <a:stretch/>
        </p:blipFill>
        <p:spPr>
          <a:xfrm>
            <a:off x="2376000" y="4046400"/>
            <a:ext cx="3923280" cy="468720"/>
          </a:xfrm>
          <a:prstGeom prst="rect">
            <a:avLst/>
          </a:prstGeom>
          <a:ln w="0">
            <a:noFill/>
          </a:ln>
        </p:spPr>
      </p:pic>
      <p:pic>
        <p:nvPicPr>
          <p:cNvPr id="187" name="" descr=""/>
          <p:cNvPicPr/>
          <p:nvPr/>
        </p:nvPicPr>
        <p:blipFill>
          <a:blip r:embed="rId6"/>
          <a:stretch/>
        </p:blipFill>
        <p:spPr>
          <a:xfrm>
            <a:off x="2772000" y="4824000"/>
            <a:ext cx="2903040" cy="45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Экономический анализ 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06960" y="1243800"/>
            <a:ext cx="7311960" cy="33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Особенности: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34% клиентов ждут в очереди 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Время ожидания 1 минута (соответствует целевому)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Варианты оптимизации: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1. Сократим операторов до 8: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Время ожидания превышает целевое значение.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2. Увеличим операторов до 12: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Обслуживание стало почти мгновенным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3. Обучим операторов (до 6 вызовов / мин)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Эффект тот же, что и в предыдущем пункте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607320" y="4816440"/>
            <a:ext cx="33876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" descr=""/>
          <p:cNvPicPr/>
          <p:nvPr/>
        </p:nvPicPr>
        <p:blipFill>
          <a:blip r:embed="rId1"/>
          <a:stretch/>
        </p:blipFill>
        <p:spPr>
          <a:xfrm>
            <a:off x="1620000" y="2340000"/>
            <a:ext cx="2555640" cy="371880"/>
          </a:xfrm>
          <a:prstGeom prst="rect">
            <a:avLst/>
          </a:prstGeom>
          <a:ln w="0">
            <a:noFill/>
          </a:ln>
        </p:spPr>
      </p:pic>
      <p:pic>
        <p:nvPicPr>
          <p:cNvPr id="192" name="" descr=""/>
          <p:cNvPicPr/>
          <p:nvPr/>
        </p:nvPicPr>
        <p:blipFill>
          <a:blip r:embed="rId2"/>
          <a:stretch/>
        </p:blipFill>
        <p:spPr>
          <a:xfrm>
            <a:off x="1800000" y="3420000"/>
            <a:ext cx="2038320" cy="283680"/>
          </a:xfrm>
          <a:prstGeom prst="rect">
            <a:avLst/>
          </a:prstGeom>
          <a:ln w="0">
            <a:noFill/>
          </a:ln>
        </p:spPr>
      </p:pic>
      <p:pic>
        <p:nvPicPr>
          <p:cNvPr id="193" name="" descr=""/>
          <p:cNvPicPr/>
          <p:nvPr/>
        </p:nvPicPr>
        <p:blipFill>
          <a:blip r:embed="rId3"/>
          <a:stretch/>
        </p:blipFill>
        <p:spPr>
          <a:xfrm>
            <a:off x="1620000" y="4370040"/>
            <a:ext cx="2543040" cy="445680"/>
          </a:xfrm>
          <a:prstGeom prst="rect">
            <a:avLst/>
          </a:prstGeom>
          <a:ln w="0">
            <a:noFill/>
          </a:ln>
        </p:spPr>
      </p:pic>
      <p:pic>
        <p:nvPicPr>
          <p:cNvPr id="194" name="" descr=""/>
          <p:cNvPicPr/>
          <p:nvPr/>
        </p:nvPicPr>
        <p:blipFill>
          <a:blip r:embed="rId4"/>
          <a:stretch/>
        </p:blipFill>
        <p:spPr>
          <a:xfrm>
            <a:off x="4860000" y="2025720"/>
            <a:ext cx="3465000" cy="265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СМО с приоритетами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2947320" y="1080000"/>
            <a:ext cx="5691960" cy="16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</a:rPr>
              <a:t>Скорая помощь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</a:rPr>
              <a:t>Многоканальная СМО с приоритетами M/M/n/PRI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ru-RU" sz="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Каналы: бригады (n = 3)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λ₁ = 2 экстренных вызова/час (высокий приоритет)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λ₂ = 5 обычных вызовов/час (низкий приоритет)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300" spc="-1" strike="noStrike">
                <a:solidFill>
                  <a:srgbClr val="000000"/>
                </a:solidFill>
                <a:latin typeface="Arial"/>
                <a:ea typeface="Noto Sans CJK SC"/>
              </a:rPr>
              <a:t>μ = 1 вызов/час на бригаду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1440000" y="3139560"/>
            <a:ext cx="6119280" cy="22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Анализ эффективности: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Среднее время ожидания для каждого приоритета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Моделирование "эффекта голодания" обычных вызовов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Оптимальное распределение бригад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680400" y="1494360"/>
            <a:ext cx="2145240" cy="120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553</TotalTime>
  <Application>LibreOffice/24.2.7.2$Linux_X86_64 LibreOffice_project/420$Build-2</Application>
  <AppVersion>15.0000</AppVersion>
  <Words>964</Words>
  <Paragraphs>173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2024-06-25T16:10:47Z</dcterms:created>
  <dc:creator>Sviatoslav Stumpf</dc:creator>
  <dc:description/>
  <dc:language>ru-RU</dc:language>
  <cp:lastModifiedBy/>
  <dcterms:modified xsi:type="dcterms:W3CDTF">2026-04-07T15:29:04Z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32</vt:i4>
  </property>
</Properties>
</file>